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ubik Medium"/>
      <p:regular r:id="rId22"/>
      <p:bold r:id="rId23"/>
      <p:italic r:id="rId24"/>
      <p:boldItalic r:id="rId25"/>
    </p:embeddedFont>
    <p:embeddedFont>
      <p:font typeface="Rubik Light"/>
      <p:regular r:id="rId26"/>
      <p:bold r:id="rId27"/>
      <p:italic r:id="rId28"/>
      <p:boldItalic r:id="rId29"/>
    </p:embeddedFont>
    <p:embeddedFont>
      <p:font typeface="Poppins"/>
      <p:regular r:id="rId30"/>
      <p:bold r:id="rId31"/>
      <p:italic r:id="rId32"/>
      <p:boldItalic r:id="rId33"/>
    </p:embeddedFont>
    <p:embeddedFont>
      <p:font typeface="Poppins Medium"/>
      <p:regular r:id="rId34"/>
      <p:bold r:id="rId35"/>
      <p:italic r:id="rId36"/>
      <p:boldItalic r:id="rId37"/>
    </p:embeddedFont>
    <p:embeddedFont>
      <p:font typeface="Rubik"/>
      <p:regular r:id="rId38"/>
      <p:bold r:id="rId39"/>
      <p:italic r:id="rId40"/>
      <p:boldItalic r:id="rId41"/>
    </p:embeddedFont>
    <p:embeddedFont>
      <p:font typeface="Rubik SemiBold"/>
      <p:regular r:id="rId42"/>
      <p:bold r:id="rId43"/>
      <p:italic r:id="rId44"/>
      <p:boldItalic r:id="rId45"/>
    </p:embeddedFont>
    <p:embeddedFont>
      <p:font typeface="Poppins SemiBold"/>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0" roundtripDataSignature="AMtx7mgGABh1ICJQDUkY279I8J7jNj5E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ubik-italic.fntdata"/><Relationship Id="rId42" Type="http://schemas.openxmlformats.org/officeDocument/2006/relationships/font" Target="fonts/RubikSemiBold-regular.fntdata"/><Relationship Id="rId41" Type="http://schemas.openxmlformats.org/officeDocument/2006/relationships/font" Target="fonts/Rubik-boldItalic.fntdata"/><Relationship Id="rId44" Type="http://schemas.openxmlformats.org/officeDocument/2006/relationships/font" Target="fonts/RubikSemiBold-italic.fntdata"/><Relationship Id="rId43" Type="http://schemas.openxmlformats.org/officeDocument/2006/relationships/font" Target="fonts/RubikSemiBold-bold.fntdata"/><Relationship Id="rId46" Type="http://schemas.openxmlformats.org/officeDocument/2006/relationships/font" Target="fonts/PoppinsSemiBold-regular.fntdata"/><Relationship Id="rId45" Type="http://schemas.openxmlformats.org/officeDocument/2006/relationships/font" Target="fonts/Rubik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bold.fntdata"/><Relationship Id="rId30" Type="http://schemas.openxmlformats.org/officeDocument/2006/relationships/font" Target="fonts/Poppins-regular.fntdata"/><Relationship Id="rId33" Type="http://schemas.openxmlformats.org/officeDocument/2006/relationships/font" Target="fonts/Poppins-boldItalic.fntdata"/><Relationship Id="rId32" Type="http://schemas.openxmlformats.org/officeDocument/2006/relationships/font" Target="fonts/Poppins-italic.fntdata"/><Relationship Id="rId35" Type="http://schemas.openxmlformats.org/officeDocument/2006/relationships/font" Target="fonts/PoppinsMedium-bold.fntdata"/><Relationship Id="rId34" Type="http://schemas.openxmlformats.org/officeDocument/2006/relationships/font" Target="fonts/PoppinsMedium-regular.fntdata"/><Relationship Id="rId37" Type="http://schemas.openxmlformats.org/officeDocument/2006/relationships/font" Target="fonts/PoppinsMedium-boldItalic.fntdata"/><Relationship Id="rId36" Type="http://schemas.openxmlformats.org/officeDocument/2006/relationships/font" Target="fonts/PoppinsMedium-italic.fntdata"/><Relationship Id="rId39" Type="http://schemas.openxmlformats.org/officeDocument/2006/relationships/font" Target="fonts/Rubik-bold.fntdata"/><Relationship Id="rId38" Type="http://schemas.openxmlformats.org/officeDocument/2006/relationships/font" Target="fonts/Rubik-regular.fntdata"/><Relationship Id="rId20" Type="http://schemas.openxmlformats.org/officeDocument/2006/relationships/slide" Target="slides/slide15.xml"/><Relationship Id="rId22" Type="http://schemas.openxmlformats.org/officeDocument/2006/relationships/font" Target="fonts/RubikMedium-regular.fntdata"/><Relationship Id="rId21" Type="http://schemas.openxmlformats.org/officeDocument/2006/relationships/slide" Target="slides/slide16.xml"/><Relationship Id="rId24" Type="http://schemas.openxmlformats.org/officeDocument/2006/relationships/font" Target="fonts/RubikMedium-italic.fntdata"/><Relationship Id="rId23" Type="http://schemas.openxmlformats.org/officeDocument/2006/relationships/font" Target="fonts/RubikMedium-bold.fntdata"/><Relationship Id="rId26" Type="http://schemas.openxmlformats.org/officeDocument/2006/relationships/font" Target="fonts/RubikLight-regular.fntdata"/><Relationship Id="rId25" Type="http://schemas.openxmlformats.org/officeDocument/2006/relationships/font" Target="fonts/RubikMedium-boldItalic.fntdata"/><Relationship Id="rId28" Type="http://schemas.openxmlformats.org/officeDocument/2006/relationships/font" Target="fonts/RubikLight-italic.fntdata"/><Relationship Id="rId27" Type="http://schemas.openxmlformats.org/officeDocument/2006/relationships/font" Target="fonts/RubikLight-bold.fntdata"/><Relationship Id="rId29" Type="http://schemas.openxmlformats.org/officeDocument/2006/relationships/font" Target="fonts/RubikLight-boldItalic.fntdata"/><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65ee86830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65ee86830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5ee86830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65ee868302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3ec2985a68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3ec2985a68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3ec2985a68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23ec2985a68_1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3ec2985a6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3ec2985a68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3ec2985a6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23ec2985a68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2ea9925351bc72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12ea9925351bc72c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409d7fd6ca9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409d7fd6ca9_1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409d7fd6ca9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409d7fd6ca9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409da1495e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409da1495ef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409d7fd6ca9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409d7fd6ca9_1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409d7fd6ca9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409d7fd6ca9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409d7fd6ca9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g409d7fd6ca9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 name="Google Shape;1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1drv.ms/b/c/6905ca35994fe05e/IQDjdWtduYOAQoXteZ7J04-bAdJ32bv37G8IRvDGQvx9Lnc?e=3b2Xgy" TargetMode="External"/><Relationship Id="rId6" Type="http://schemas.openxmlformats.org/officeDocument/2006/relationships/hyperlink" Target="https://1drv.ms/b/c/6905ca35994fe05e/IQAT0dM_uhSwRrk-TCNWii3QAac6gftB18N_1Kb-96cjoLs?e=Ef6Wt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 Id="rId6" Type="http://schemas.openxmlformats.org/officeDocument/2006/relationships/image" Target="../media/image2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 Id="rId6" Type="http://schemas.openxmlformats.org/officeDocument/2006/relationships/image" Target="../media/image15.png"/><Relationship Id="rId7"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 Id="rId6" Type="http://schemas.openxmlformats.org/officeDocument/2006/relationships/image" Target="../media/image13.png"/><Relationship Id="rId7"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 Id="rId6"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datastudio.google.com/reporting/8bf2e412-0352-43d2-98a1-ea49b3098b83/page/sLN8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hyperlink" Target="https://youtu.be/Iw4Dt4OFNxY" TargetMode="External"/><Relationship Id="rId7" Type="http://schemas.openxmlformats.org/officeDocument/2006/relationships/hyperlink" Target="https://github.com/deafaricha/Kimia-Farma-Big-Data-Analytics-Project-Based-Internship-Program" TargetMode="External"/><Relationship Id="rId8" Type="http://schemas.openxmlformats.org/officeDocument/2006/relationships/hyperlink" Target="https://datastudio.google.com/s/voFRXdA5VI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55" name="Google Shape;55;p1"/>
          <p:cNvPicPr preferRelativeResize="0"/>
          <p:nvPr/>
        </p:nvPicPr>
        <p:blipFill rotWithShape="1">
          <a:blip r:embed="rId4">
            <a:alphaModFix/>
          </a:blip>
          <a:srcRect b="0" l="0" r="0" t="0"/>
          <a:stretch/>
        </p:blipFill>
        <p:spPr>
          <a:xfrm>
            <a:off x="349800" y="186500"/>
            <a:ext cx="1399901" cy="541300"/>
          </a:xfrm>
          <a:prstGeom prst="rect">
            <a:avLst/>
          </a:prstGeom>
          <a:noFill/>
          <a:ln>
            <a:noFill/>
          </a:ln>
        </p:spPr>
      </p:pic>
      <p:sp>
        <p:nvSpPr>
          <p:cNvPr id="56" name="Google Shape;56;p1"/>
          <p:cNvSpPr txBox="1"/>
          <p:nvPr/>
        </p:nvSpPr>
        <p:spPr>
          <a:xfrm>
            <a:off x="517900" y="1596200"/>
            <a:ext cx="6239100" cy="9852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lang="en" sz="2600">
                <a:solidFill>
                  <a:schemeClr val="lt1"/>
                </a:solidFill>
                <a:latin typeface="Rubik"/>
                <a:ea typeface="Rubik"/>
                <a:cs typeface="Rubik"/>
                <a:sym typeface="Rubik"/>
              </a:rPr>
              <a:t>Kimia Farma </a:t>
            </a:r>
            <a:r>
              <a:rPr b="1" lang="en" sz="2600">
                <a:solidFill>
                  <a:schemeClr val="lt1"/>
                </a:solidFill>
                <a:latin typeface="Rubik"/>
                <a:ea typeface="Rubik"/>
                <a:cs typeface="Rubik"/>
                <a:sym typeface="Rubik"/>
              </a:rPr>
              <a:t>Business Performance  Analytics </a:t>
            </a:r>
            <a:r>
              <a:rPr b="1" lang="en" sz="2600">
                <a:solidFill>
                  <a:schemeClr val="lt1"/>
                </a:solidFill>
                <a:latin typeface="Rubik"/>
                <a:ea typeface="Rubik"/>
                <a:cs typeface="Rubik"/>
                <a:sym typeface="Rubik"/>
              </a:rPr>
              <a:t>Year 2020-2023</a:t>
            </a:r>
            <a:endParaRPr b="0" i="0" sz="2600" u="none" cap="none" strike="noStrike">
              <a:solidFill>
                <a:schemeClr val="lt1"/>
              </a:solidFill>
              <a:latin typeface="Rubik"/>
              <a:ea typeface="Rubik"/>
              <a:cs typeface="Rubik"/>
              <a:sym typeface="Rubik"/>
            </a:endParaRPr>
          </a:p>
        </p:txBody>
      </p:sp>
      <p:sp>
        <p:nvSpPr>
          <p:cNvPr id="57" name="Google Shape;57;p1"/>
          <p:cNvSpPr txBox="1"/>
          <p:nvPr/>
        </p:nvSpPr>
        <p:spPr>
          <a:xfrm>
            <a:off x="517900" y="3130300"/>
            <a:ext cx="7289100" cy="5694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Rubik SemiBold"/>
                <a:ea typeface="Rubik SemiBold"/>
                <a:cs typeface="Rubik SemiBold"/>
                <a:sym typeface="Rubik SemiBold"/>
              </a:rPr>
              <a:t>Kimia Farma - Big Data Analytics</a:t>
            </a:r>
            <a:endParaRPr b="0" i="0" sz="2500" u="none" cap="none" strike="noStrike">
              <a:solidFill>
                <a:schemeClr val="lt1"/>
              </a:solidFill>
              <a:latin typeface="Rubik SemiBold"/>
              <a:ea typeface="Rubik SemiBold"/>
              <a:cs typeface="Rubik SemiBold"/>
              <a:sym typeface="Rubik SemiBold"/>
            </a:endParaRPr>
          </a:p>
        </p:txBody>
      </p:sp>
      <p:sp>
        <p:nvSpPr>
          <p:cNvPr id="58" name="Google Shape;58;p1"/>
          <p:cNvSpPr/>
          <p:nvPr/>
        </p:nvSpPr>
        <p:spPr>
          <a:xfrm>
            <a:off x="6757125" y="-621925"/>
            <a:ext cx="3135000" cy="30510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
          <p:cNvSpPr txBox="1"/>
          <p:nvPr/>
        </p:nvSpPr>
        <p:spPr>
          <a:xfrm>
            <a:off x="1769125" y="172450"/>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sp>
        <p:nvSpPr>
          <p:cNvPr id="60" name="Google Shape;60;p1"/>
          <p:cNvSpPr txBox="1"/>
          <p:nvPr/>
        </p:nvSpPr>
        <p:spPr>
          <a:xfrm>
            <a:off x="517900" y="3699700"/>
            <a:ext cx="5100000" cy="954300"/>
          </a:xfrm>
          <a:prstGeom prst="rect">
            <a:avLst/>
          </a:prstGeom>
          <a:noFill/>
          <a:ln>
            <a:noFill/>
          </a:ln>
          <a:effectLst>
            <a:outerShdw blurRad="57150" rotWithShape="0" algn="bl" dir="5400000" dist="19050">
              <a:srgbClr val="000000">
                <a:alpha val="49412"/>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lt1"/>
                </a:solidFill>
                <a:latin typeface="Rubik Light"/>
                <a:ea typeface="Rubik Light"/>
                <a:cs typeface="Rubik Light"/>
                <a:sym typeface="Rubik Light"/>
              </a:rPr>
              <a:t>Presented by</a:t>
            </a:r>
            <a:endParaRPr b="0" i="0" sz="2000" u="none" cap="none" strike="noStrike">
              <a:solidFill>
                <a:schemeClr val="lt1"/>
              </a:solidFill>
              <a:latin typeface="Rubik Light"/>
              <a:ea typeface="Rubik Light"/>
              <a:cs typeface="Rubik Light"/>
              <a:sym typeface="Rubik Light"/>
            </a:endParaRPr>
          </a:p>
          <a:p>
            <a:pPr indent="0" lvl="0" marL="0" marR="0" rtl="0" algn="l">
              <a:lnSpc>
                <a:spcPct val="100000"/>
              </a:lnSpc>
              <a:spcBef>
                <a:spcPts val="0"/>
              </a:spcBef>
              <a:spcAft>
                <a:spcPts val="0"/>
              </a:spcAft>
              <a:buClr>
                <a:srgbClr val="000000"/>
              </a:buClr>
              <a:buSzPts val="2000"/>
              <a:buFont typeface="Arial"/>
              <a:buNone/>
            </a:pPr>
            <a:r>
              <a:rPr b="0" i="0" lang="en" sz="3000" u="none" cap="none" strike="noStrike">
                <a:solidFill>
                  <a:schemeClr val="lt1"/>
                </a:solidFill>
                <a:latin typeface="Rubik Light"/>
                <a:ea typeface="Rubik Light"/>
                <a:cs typeface="Rubik Light"/>
                <a:sym typeface="Rubik Light"/>
              </a:rPr>
              <a:t>&lt;</a:t>
            </a:r>
            <a:r>
              <a:rPr lang="en" sz="3000">
                <a:solidFill>
                  <a:schemeClr val="lt1"/>
                </a:solidFill>
                <a:latin typeface="Rubik Light"/>
                <a:ea typeface="Rubik Light"/>
                <a:cs typeface="Rubik Light"/>
                <a:sym typeface="Rubik Light"/>
              </a:rPr>
              <a:t>Faricha Asri Dreamy P.</a:t>
            </a:r>
            <a:r>
              <a:rPr b="0" i="0" lang="en" sz="3000" u="none" cap="none" strike="noStrike">
                <a:solidFill>
                  <a:schemeClr val="lt1"/>
                </a:solidFill>
                <a:latin typeface="Rubik Light"/>
                <a:ea typeface="Rubik Light"/>
                <a:cs typeface="Rubik Light"/>
                <a:sym typeface="Rubik Light"/>
              </a:rPr>
              <a:t>&gt;</a:t>
            </a:r>
            <a:endParaRPr b="0" i="0" sz="3000" u="none" cap="none" strike="noStrike">
              <a:solidFill>
                <a:schemeClr val="lt1"/>
              </a:solidFill>
              <a:latin typeface="Rubik Light"/>
              <a:ea typeface="Rubik Light"/>
              <a:cs typeface="Rubik Light"/>
              <a:sym typeface="Rubik Light"/>
            </a:endParaRPr>
          </a:p>
        </p:txBody>
      </p:sp>
      <p:pic>
        <p:nvPicPr>
          <p:cNvPr id="61" name="Google Shape;61;p1"/>
          <p:cNvPicPr preferRelativeResize="0"/>
          <p:nvPr/>
        </p:nvPicPr>
        <p:blipFill rotWithShape="1">
          <a:blip r:embed="rId5">
            <a:alphaModFix/>
          </a:blip>
          <a:srcRect b="0" l="0" r="0" t="0"/>
          <a:stretch/>
        </p:blipFill>
        <p:spPr>
          <a:xfrm>
            <a:off x="2350825" y="133900"/>
            <a:ext cx="1581660" cy="569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67" name="Google Shape;67;p3"/>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68" name="Google Shape;68;p3"/>
          <p:cNvSpPr/>
          <p:nvPr/>
        </p:nvSpPr>
        <p:spPr>
          <a:xfrm>
            <a:off x="0" y="0"/>
            <a:ext cx="4572000" cy="5143500"/>
          </a:xfrm>
          <a:prstGeom prst="rect">
            <a:avLst/>
          </a:prstGeom>
          <a:solidFill>
            <a:srgbClr val="019FAB">
              <a:alpha val="4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txBox="1"/>
          <p:nvPr/>
        </p:nvSpPr>
        <p:spPr>
          <a:xfrm>
            <a:off x="4694989" y="959175"/>
            <a:ext cx="42768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2000">
                <a:latin typeface="Rubik SemiBold"/>
                <a:ea typeface="Rubik SemiBold"/>
                <a:cs typeface="Rubik SemiBold"/>
                <a:sym typeface="Rubik SemiBold"/>
              </a:rPr>
              <a:t>Faricha Asri Dreamy Pamuncak</a:t>
            </a:r>
            <a:endParaRPr b="0" i="0" sz="2000" u="none" cap="none" strike="noStrike">
              <a:solidFill>
                <a:srgbClr val="000000"/>
              </a:solidFill>
              <a:latin typeface="Rubik SemiBold"/>
              <a:ea typeface="Rubik SemiBold"/>
              <a:cs typeface="Rubik SemiBold"/>
              <a:sym typeface="Rubik SemiBold"/>
            </a:endParaRPr>
          </a:p>
        </p:txBody>
      </p:sp>
      <p:sp>
        <p:nvSpPr>
          <p:cNvPr id="70" name="Google Shape;70;p3"/>
          <p:cNvSpPr txBox="1"/>
          <p:nvPr/>
        </p:nvSpPr>
        <p:spPr>
          <a:xfrm>
            <a:off x="5212900" y="1584450"/>
            <a:ext cx="35046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n" sz="1900">
                <a:solidFill>
                  <a:srgbClr val="019FAB"/>
                </a:solidFill>
                <a:latin typeface="Rubik SemiBold"/>
                <a:ea typeface="Rubik SemiBold"/>
                <a:cs typeface="Rubik SemiBold"/>
                <a:sym typeface="Rubik SemiBold"/>
              </a:rPr>
              <a:t>Data Analyst Enthusiast</a:t>
            </a:r>
            <a:endParaRPr b="0" i="0" sz="1900" u="none" cap="none" strike="noStrike">
              <a:solidFill>
                <a:srgbClr val="019FAB"/>
              </a:solidFill>
              <a:latin typeface="Rubik SemiBold"/>
              <a:ea typeface="Rubik SemiBold"/>
              <a:cs typeface="Rubik SemiBold"/>
              <a:sym typeface="Rubik SemiBold"/>
            </a:endParaRPr>
          </a:p>
        </p:txBody>
      </p:sp>
      <p:sp>
        <p:nvSpPr>
          <p:cNvPr id="71" name="Google Shape;71;p3"/>
          <p:cNvSpPr txBox="1"/>
          <p:nvPr/>
        </p:nvSpPr>
        <p:spPr>
          <a:xfrm>
            <a:off x="4867200" y="2137750"/>
            <a:ext cx="4104600" cy="2639700"/>
          </a:xfrm>
          <a:prstGeom prst="rect">
            <a:avLst/>
          </a:prstGeom>
          <a:noFill/>
          <a:ln>
            <a:noFill/>
          </a:ln>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Clr>
                <a:srgbClr val="000000"/>
              </a:buClr>
              <a:buSzPts val="2000"/>
              <a:buFont typeface="Arial"/>
              <a:buNone/>
            </a:pPr>
            <a:r>
              <a:rPr lang="en" sz="1100">
                <a:solidFill>
                  <a:schemeClr val="dk1"/>
                </a:solidFill>
                <a:latin typeface="Poppins"/>
                <a:ea typeface="Poppins"/>
                <a:cs typeface="Poppins"/>
                <a:sym typeface="Poppins"/>
              </a:rPr>
              <a:t>Lulusan Kesehatan Masyarakat, Universitas Airlangga dengan peminatan Biostatistika dan Kependudukan. Berpengalaman dalam pengolahan, pembersihan (</a:t>
            </a:r>
            <a:r>
              <a:rPr i="1" lang="en" sz="1100">
                <a:solidFill>
                  <a:schemeClr val="dk1"/>
                </a:solidFill>
                <a:latin typeface="Poppins"/>
                <a:ea typeface="Poppins"/>
                <a:cs typeface="Poppins"/>
                <a:sym typeface="Poppins"/>
              </a:rPr>
              <a:t>cleaning</a:t>
            </a:r>
            <a:r>
              <a:rPr lang="en" sz="1100">
                <a:solidFill>
                  <a:schemeClr val="dk1"/>
                </a:solidFill>
                <a:latin typeface="Poppins"/>
                <a:ea typeface="Poppins"/>
                <a:cs typeface="Poppins"/>
                <a:sym typeface="Poppins"/>
              </a:rPr>
              <a:t>), validasi, serta analisis data kesehatan dan epidemiologi. Terbiasa mengelola siklus data kesehatan secara menyeluruh, mulai dari pengumpulan data primer di lapangan, digitalisasi dokumen, </a:t>
            </a:r>
            <a:r>
              <a:rPr i="1" lang="en" sz="1100">
                <a:solidFill>
                  <a:schemeClr val="dk1"/>
                </a:solidFill>
                <a:latin typeface="Poppins"/>
                <a:ea typeface="Poppins"/>
                <a:cs typeface="Poppins"/>
                <a:sym typeface="Poppins"/>
              </a:rPr>
              <a:t>data entry </a:t>
            </a:r>
            <a:r>
              <a:rPr lang="en" sz="1100">
                <a:solidFill>
                  <a:schemeClr val="dk1"/>
                </a:solidFill>
                <a:latin typeface="Poppins"/>
                <a:ea typeface="Poppins"/>
                <a:cs typeface="Poppins"/>
                <a:sym typeface="Poppins"/>
              </a:rPr>
              <a:t>data pasien (nama, nomor rekam medis, dan diagnosis), hingga analisis spasial dan pemodelan statistik. </a:t>
            </a:r>
            <a:endParaRPr i="0" sz="1200" u="none" cap="none" strike="noStrike">
              <a:solidFill>
                <a:srgbClr val="000000"/>
              </a:solidFill>
              <a:latin typeface="Poppins"/>
              <a:ea typeface="Poppins"/>
              <a:cs typeface="Poppins"/>
              <a:sym typeface="Poppins"/>
            </a:endParaRPr>
          </a:p>
        </p:txBody>
      </p:sp>
      <p:sp>
        <p:nvSpPr>
          <p:cNvPr id="72" name="Google Shape;72;p3"/>
          <p:cNvSpPr txBox="1"/>
          <p:nvPr/>
        </p:nvSpPr>
        <p:spPr>
          <a:xfrm>
            <a:off x="945679" y="3819937"/>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Bogor Regency, West Java</a:t>
            </a:r>
            <a:endParaRPr b="0" i="0" sz="1200" u="none" cap="none" strike="noStrike">
              <a:solidFill>
                <a:srgbClr val="000000"/>
              </a:solidFill>
              <a:latin typeface="Rubik Medium"/>
              <a:ea typeface="Rubik Medium"/>
              <a:cs typeface="Rubik Medium"/>
              <a:sym typeface="Rubik Medium"/>
            </a:endParaRPr>
          </a:p>
        </p:txBody>
      </p:sp>
      <p:pic>
        <p:nvPicPr>
          <p:cNvPr id="73" name="Google Shape;73;p3"/>
          <p:cNvPicPr preferRelativeResize="0"/>
          <p:nvPr/>
        </p:nvPicPr>
        <p:blipFill rotWithShape="1">
          <a:blip r:embed="rId5">
            <a:alphaModFix/>
          </a:blip>
          <a:srcRect b="0" l="0" r="0" t="0"/>
          <a:stretch/>
        </p:blipFill>
        <p:spPr>
          <a:xfrm>
            <a:off x="451629" y="4665812"/>
            <a:ext cx="369300" cy="369300"/>
          </a:xfrm>
          <a:prstGeom prst="rect">
            <a:avLst/>
          </a:prstGeom>
          <a:noFill/>
          <a:ln>
            <a:noFill/>
          </a:ln>
        </p:spPr>
      </p:pic>
      <p:pic>
        <p:nvPicPr>
          <p:cNvPr id="74" name="Google Shape;74;p3"/>
          <p:cNvPicPr preferRelativeResize="0"/>
          <p:nvPr/>
        </p:nvPicPr>
        <p:blipFill rotWithShape="1">
          <a:blip r:embed="rId6">
            <a:alphaModFix/>
          </a:blip>
          <a:srcRect b="0" l="0" r="0" t="0"/>
          <a:stretch/>
        </p:blipFill>
        <p:spPr>
          <a:xfrm>
            <a:off x="436179" y="3804487"/>
            <a:ext cx="400201" cy="400201"/>
          </a:xfrm>
          <a:prstGeom prst="rect">
            <a:avLst/>
          </a:prstGeom>
          <a:noFill/>
          <a:ln>
            <a:noFill/>
          </a:ln>
        </p:spPr>
      </p:pic>
      <p:pic>
        <p:nvPicPr>
          <p:cNvPr id="75" name="Google Shape;75;p3"/>
          <p:cNvPicPr preferRelativeResize="0"/>
          <p:nvPr/>
        </p:nvPicPr>
        <p:blipFill rotWithShape="1">
          <a:blip r:embed="rId7">
            <a:alphaModFix/>
          </a:blip>
          <a:srcRect b="0" l="0" r="0" t="0"/>
          <a:stretch/>
        </p:blipFill>
        <p:spPr>
          <a:xfrm>
            <a:off x="444975" y="4303489"/>
            <a:ext cx="369300" cy="263511"/>
          </a:xfrm>
          <a:prstGeom prst="rect">
            <a:avLst/>
          </a:prstGeom>
          <a:noFill/>
          <a:ln>
            <a:noFill/>
          </a:ln>
        </p:spPr>
      </p:pic>
      <p:sp>
        <p:nvSpPr>
          <p:cNvPr id="76" name="Google Shape;76;p3"/>
          <p:cNvSpPr txBox="1"/>
          <p:nvPr/>
        </p:nvSpPr>
        <p:spPr>
          <a:xfrm>
            <a:off x="945679" y="4642162"/>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linkedin.com/in/faricha-asri-dreamy/</a:t>
            </a:r>
            <a:endParaRPr b="0" i="0" sz="1200" u="none" cap="none" strike="noStrike">
              <a:solidFill>
                <a:srgbClr val="000000"/>
              </a:solidFill>
              <a:latin typeface="Rubik Medium"/>
              <a:ea typeface="Rubik Medium"/>
              <a:cs typeface="Rubik Medium"/>
              <a:sym typeface="Rubik Medium"/>
            </a:endParaRPr>
          </a:p>
        </p:txBody>
      </p:sp>
      <p:sp>
        <p:nvSpPr>
          <p:cNvPr id="77" name="Google Shape;77;p3"/>
          <p:cNvSpPr txBox="1"/>
          <p:nvPr/>
        </p:nvSpPr>
        <p:spPr>
          <a:xfrm>
            <a:off x="945679" y="4250600"/>
            <a:ext cx="3504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 sz="1200">
                <a:latin typeface="Rubik Medium"/>
                <a:ea typeface="Rubik Medium"/>
                <a:cs typeface="Rubik Medium"/>
                <a:sym typeface="Rubik Medium"/>
              </a:rPr>
              <a:t>dea.faricha@gmail.com</a:t>
            </a:r>
            <a:endParaRPr b="0" i="0" sz="1200" u="none" cap="none" strike="noStrike">
              <a:solidFill>
                <a:srgbClr val="000000"/>
              </a:solidFill>
              <a:latin typeface="Rubik Medium"/>
              <a:ea typeface="Rubik Medium"/>
              <a:cs typeface="Rubik Medium"/>
              <a:sym typeface="Rubik Medium"/>
            </a:endParaRPr>
          </a:p>
        </p:txBody>
      </p:sp>
      <p:pic>
        <p:nvPicPr>
          <p:cNvPr id="78" name="Google Shape;78;p3" title="Pas Foto 4x6 Faricha Asri.jpg"/>
          <p:cNvPicPr preferRelativeResize="0"/>
          <p:nvPr/>
        </p:nvPicPr>
        <p:blipFill rotWithShape="1">
          <a:blip r:embed="rId8">
            <a:alphaModFix/>
          </a:blip>
          <a:srcRect b="0" l="0" r="0" t="15448"/>
          <a:stretch/>
        </p:blipFill>
        <p:spPr>
          <a:xfrm>
            <a:off x="1087900" y="526850"/>
            <a:ext cx="2396210" cy="3039749"/>
          </a:xfrm>
          <a:prstGeom prst="rect">
            <a:avLst/>
          </a:prstGeom>
          <a:solidFill>
            <a:schemeClr val="accent4"/>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265ee868302_0_130"/>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84" name="Google Shape;84;g265ee868302_0_130"/>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85" name="Google Shape;85;g265ee868302_0_130"/>
          <p:cNvSpPr txBox="1"/>
          <p:nvPr/>
        </p:nvSpPr>
        <p:spPr>
          <a:xfrm>
            <a:off x="340500" y="1406350"/>
            <a:ext cx="86532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200000"/>
              </a:lnSpc>
              <a:spcBef>
                <a:spcPts val="0"/>
              </a:spcBef>
              <a:spcAft>
                <a:spcPts val="0"/>
              </a:spcAft>
              <a:buClr>
                <a:schemeClr val="dk1"/>
              </a:buClr>
              <a:buSzPts val="1100"/>
              <a:buFont typeface="Arial"/>
              <a:buNone/>
            </a:pPr>
            <a:r>
              <a:rPr b="1" lang="en">
                <a:latin typeface="Rubik"/>
                <a:ea typeface="Rubik"/>
                <a:cs typeface="Rubik"/>
                <a:sym typeface="Rubik"/>
              </a:rPr>
              <a:t>Operator Computer | BNSP</a:t>
            </a:r>
            <a:r>
              <a:rPr b="1" i="0" lang="en" sz="1400" u="none" cap="none" strike="noStrike">
                <a:solidFill>
                  <a:srgbClr val="000000"/>
                </a:solidFill>
                <a:latin typeface="Rubik"/>
                <a:ea typeface="Rubik"/>
                <a:cs typeface="Rubik"/>
                <a:sym typeface="Rubik"/>
              </a:rPr>
              <a:t> | </a:t>
            </a:r>
            <a:r>
              <a:rPr b="1" lang="en">
                <a:solidFill>
                  <a:schemeClr val="hlink"/>
                </a:solidFill>
                <a:uFill>
                  <a:noFill/>
                </a:uFill>
                <a:latin typeface="Rubik"/>
                <a:ea typeface="Rubik"/>
                <a:cs typeface="Rubik"/>
                <a:sym typeface="Rubik"/>
                <a:hlinkClick r:id="rId5"/>
              </a:rPr>
              <a:t>Certificate</a:t>
            </a:r>
            <a:r>
              <a:rPr b="1" i="0" lang="en" sz="1400" u="none" cap="none" strike="noStrike">
                <a:solidFill>
                  <a:schemeClr val="accent5"/>
                </a:solidFill>
                <a:latin typeface="Rubik"/>
                <a:ea typeface="Rubik"/>
                <a:cs typeface="Rubik"/>
                <a:sym typeface="Rubik"/>
              </a:rPr>
              <a:t>								</a:t>
            </a:r>
            <a:r>
              <a:rPr b="1" lang="en">
                <a:solidFill>
                  <a:schemeClr val="accent5"/>
                </a:solidFill>
                <a:latin typeface="Rubik"/>
                <a:ea typeface="Rubik"/>
                <a:cs typeface="Rubik"/>
                <a:sym typeface="Rubik"/>
              </a:rPr>
              <a:t>July, 2026</a:t>
            </a:r>
            <a:br>
              <a:rPr b="1" i="0" lang="en" sz="1400" u="none" cap="none" strike="noStrike">
                <a:solidFill>
                  <a:schemeClr val="accent5"/>
                </a:solidFill>
                <a:latin typeface="Rubik"/>
                <a:ea typeface="Rubik"/>
                <a:cs typeface="Rubik"/>
                <a:sym typeface="Rubik"/>
              </a:rPr>
            </a:br>
            <a:r>
              <a:rPr b="1" lang="en">
                <a:solidFill>
                  <a:schemeClr val="dk1"/>
                </a:solidFill>
                <a:latin typeface="Rubik"/>
                <a:ea typeface="Rubik"/>
                <a:cs typeface="Rubik"/>
                <a:sym typeface="Rubik"/>
              </a:rPr>
              <a:t>Data Analyst Bootcamp | Karirnex</a:t>
            </a:r>
            <a:r>
              <a:rPr b="1" i="0" lang="en" sz="1400" u="none" cap="none" strike="noStrike">
                <a:solidFill>
                  <a:schemeClr val="dk1"/>
                </a:solidFill>
                <a:latin typeface="Rubik"/>
                <a:ea typeface="Rubik"/>
                <a:cs typeface="Rubik"/>
                <a:sym typeface="Rubik"/>
              </a:rPr>
              <a:t> | </a:t>
            </a:r>
            <a:r>
              <a:rPr b="1" lang="en">
                <a:solidFill>
                  <a:schemeClr val="hlink"/>
                </a:solidFill>
                <a:uFill>
                  <a:noFill/>
                </a:uFill>
                <a:latin typeface="Rubik"/>
                <a:ea typeface="Rubik"/>
                <a:cs typeface="Rubik"/>
                <a:sym typeface="Rubik"/>
                <a:hlinkClick r:id="rId6"/>
              </a:rPr>
              <a:t>Certificate</a:t>
            </a:r>
            <a:r>
              <a:rPr b="1" i="0" lang="en" sz="1400" u="none" cap="none" strike="noStrike">
                <a:solidFill>
                  <a:schemeClr val="accent5"/>
                </a:solidFill>
                <a:latin typeface="Rubik"/>
                <a:ea typeface="Rubik"/>
                <a:cs typeface="Rubik"/>
                <a:sym typeface="Rubik"/>
              </a:rPr>
              <a:t>					</a:t>
            </a:r>
            <a:r>
              <a:rPr b="1" lang="en">
                <a:solidFill>
                  <a:schemeClr val="accent5"/>
                </a:solidFill>
                <a:latin typeface="Rubik"/>
                <a:ea typeface="Rubik"/>
                <a:cs typeface="Rubik"/>
                <a:sym typeface="Rubik"/>
              </a:rPr>
              <a:t>		May</a:t>
            </a:r>
            <a:r>
              <a:rPr b="1" i="0" lang="en" sz="1400" u="none" cap="none" strike="noStrike">
                <a:solidFill>
                  <a:schemeClr val="accent5"/>
                </a:solidFill>
                <a:latin typeface="Rubik"/>
                <a:ea typeface="Rubik"/>
                <a:cs typeface="Rubik"/>
                <a:sym typeface="Rubik"/>
              </a:rPr>
              <a:t>, </a:t>
            </a:r>
            <a:r>
              <a:rPr b="1" lang="en">
                <a:solidFill>
                  <a:schemeClr val="accent5"/>
                </a:solidFill>
                <a:latin typeface="Rubik"/>
                <a:ea typeface="Rubik"/>
                <a:cs typeface="Rubik"/>
                <a:sym typeface="Rubik"/>
              </a:rPr>
              <a:t>2026</a:t>
            </a:r>
            <a:endParaRPr b="0" i="0" sz="1400" u="none" cap="none" strike="noStrike">
              <a:solidFill>
                <a:schemeClr val="accent5"/>
              </a:solidFill>
              <a:latin typeface="Rubik"/>
              <a:ea typeface="Rubik"/>
              <a:cs typeface="Rubik"/>
              <a:sym typeface="Rubik"/>
            </a:endParaRPr>
          </a:p>
        </p:txBody>
      </p:sp>
      <p:sp>
        <p:nvSpPr>
          <p:cNvPr id="86" name="Google Shape;86;g265ee868302_0_130"/>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Courses and </a:t>
            </a:r>
            <a:r>
              <a:rPr b="1" i="0" lang="en" sz="3000" u="none" cap="none" strike="noStrike">
                <a:solidFill>
                  <a:schemeClr val="accent5"/>
                </a:solidFill>
                <a:latin typeface="Rubik"/>
                <a:ea typeface="Rubik"/>
                <a:cs typeface="Rubik"/>
                <a:sym typeface="Rubik"/>
              </a:rPr>
              <a:t>Certification</a:t>
            </a:r>
            <a:endParaRPr b="1" i="0" sz="3000" u="none" cap="none" strike="noStrike">
              <a:solidFill>
                <a:schemeClr val="accent5"/>
              </a:solidFill>
              <a:latin typeface="Rubik"/>
              <a:ea typeface="Rubik"/>
              <a:cs typeface="Rubik"/>
              <a:sym typeface="Rubi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4"/>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92" name="Google Shape;92;p4"/>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93" name="Google Shape;93;p4"/>
          <p:cNvSpPr txBox="1"/>
          <p:nvPr/>
        </p:nvSpPr>
        <p:spPr>
          <a:xfrm>
            <a:off x="340500" y="1731500"/>
            <a:ext cx="8463000" cy="264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 sz="1200">
                <a:solidFill>
                  <a:schemeClr val="dk1"/>
                </a:solidFill>
                <a:latin typeface="Poppins"/>
                <a:ea typeface="Poppins"/>
                <a:cs typeface="Poppins"/>
                <a:sym typeface="Poppins"/>
              </a:rPr>
              <a:t>Kimia Farma (PT Kimia Farma Tbk) merupakan perusahaan farmasi milik negara (BUMN) tertua di Indonesia yang didirikan sejak tahun 1817 dengan nama NV Chemicalien Handel Rathkamp &amp; Co. Setelah dinasionalisasi pada era kemerdekaan dan berganti nama pada tahun 1971, Kimia Farma melantai di Bursa Efek Indonesia pada tahun 2001. Saat ini, Kimia Farma beroperasi di bawah naungan Holding BUMN Farmasi (PT Bio Farma) dan menjadi salah satu pilar utama dalam menjaga ketahanan kesehatan nasional.</a:t>
            </a:r>
            <a:endParaRPr sz="1200">
              <a:solidFill>
                <a:schemeClr val="dk1"/>
              </a:solidFill>
              <a:latin typeface="Poppins"/>
              <a:ea typeface="Poppins"/>
              <a:cs typeface="Poppins"/>
              <a:sym typeface="Poppins"/>
            </a:endParaRPr>
          </a:p>
          <a:p>
            <a:pPr indent="0" lvl="0" marL="0" rtl="0" algn="just">
              <a:lnSpc>
                <a:spcPct val="115000"/>
              </a:lnSpc>
              <a:spcBef>
                <a:spcPts val="1200"/>
              </a:spcBef>
              <a:spcAft>
                <a:spcPts val="1200"/>
              </a:spcAft>
              <a:buClr>
                <a:schemeClr val="dk1"/>
              </a:buClr>
              <a:buSzPts val="1100"/>
              <a:buFont typeface="Arial"/>
              <a:buNone/>
            </a:pPr>
            <a:r>
              <a:rPr lang="en" sz="1200">
                <a:solidFill>
                  <a:schemeClr val="dk1"/>
                </a:solidFill>
                <a:latin typeface="Poppins"/>
                <a:ea typeface="Poppins"/>
                <a:cs typeface="Poppins"/>
                <a:sym typeface="Poppins"/>
              </a:rPr>
              <a:t>Melalui jaringan bisnis dari hulu ke hilir, perusahaan ini memproduksi obat generik, obat resep, produk konsumen, hingga bahan baku obat (API). Layanan masyarakat didukung oleh jaringan ritel Apotek Kimia Farma, klinik kesehatan, dan laboratorium klinik yang tersebar luas di seluruh wilayah Indonesia, serta menjadi pemasok utama obat-obatan untuk program JKN (BPJS Kesehatan). Peran analisis data dalam mendukung bisnis mengintegrasikan seluruh alur informasi secara akurat untuk efisiensi operasional dan pengambilan keputusan strategis. </a:t>
            </a:r>
            <a:endParaRPr sz="1300">
              <a:latin typeface="Poppins"/>
              <a:ea typeface="Poppins"/>
              <a:cs typeface="Poppins"/>
              <a:sym typeface="Poppins"/>
            </a:endParaRPr>
          </a:p>
        </p:txBody>
      </p:sp>
      <p:sp>
        <p:nvSpPr>
          <p:cNvPr id="94" name="Google Shape;94;p4"/>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About </a:t>
            </a:r>
            <a:r>
              <a:rPr b="1" i="0" lang="en" sz="3000" u="none" cap="none" strike="noStrike">
                <a:solidFill>
                  <a:schemeClr val="accent5"/>
                </a:solidFill>
                <a:latin typeface="Rubik"/>
                <a:ea typeface="Rubik"/>
                <a:cs typeface="Rubik"/>
                <a:sym typeface="Rubik"/>
              </a:rPr>
              <a:t>Company</a:t>
            </a:r>
            <a:endParaRPr b="1" i="0" sz="3000" u="none" cap="none" strike="noStrike">
              <a:solidFill>
                <a:schemeClr val="accent5"/>
              </a:solidFill>
              <a:latin typeface="Rubik"/>
              <a:ea typeface="Rubik"/>
              <a:cs typeface="Rubik"/>
              <a:sym typeface="Rubik"/>
            </a:endParaRPr>
          </a:p>
        </p:txBody>
      </p:sp>
      <p:pic>
        <p:nvPicPr>
          <p:cNvPr id="95" name="Google Shape;95;p4"/>
          <p:cNvPicPr preferRelativeResize="0"/>
          <p:nvPr/>
        </p:nvPicPr>
        <p:blipFill rotWithShape="1">
          <a:blip r:embed="rId5">
            <a:alphaModFix/>
          </a:blip>
          <a:srcRect b="0" l="0" r="0" t="0"/>
          <a:stretch/>
        </p:blipFill>
        <p:spPr>
          <a:xfrm>
            <a:off x="493175" y="422010"/>
            <a:ext cx="1967400" cy="706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265ee868302_0_9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01" name="Google Shape;101;g265ee868302_0_9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02" name="Google Shape;102;g265ee868302_0_99"/>
          <p:cNvSpPr txBox="1"/>
          <p:nvPr/>
        </p:nvSpPr>
        <p:spPr>
          <a:xfrm>
            <a:off x="192698" y="1160025"/>
            <a:ext cx="8616300" cy="1327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100"/>
              <a:buFont typeface="Arial"/>
              <a:buNone/>
            </a:pPr>
            <a:r>
              <a:rPr lang="en" sz="1100">
                <a:solidFill>
                  <a:srgbClr val="1F1F1F"/>
                </a:solidFill>
                <a:latin typeface="Poppins"/>
                <a:ea typeface="Poppins"/>
                <a:cs typeface="Poppins"/>
                <a:sym typeface="Poppins"/>
              </a:rPr>
              <a:t>Proyek analisis berbasis data dilakukan untuk melakukan evaluasi kinerja bisnis Kimia Farma tahun 2020–2023. Sebagai seorang </a:t>
            </a:r>
            <a:r>
              <a:rPr i="1" lang="en" sz="1100">
                <a:solidFill>
                  <a:srgbClr val="1F1F1F"/>
                </a:solidFill>
                <a:latin typeface="Poppins"/>
                <a:ea typeface="Poppins"/>
                <a:cs typeface="Poppins"/>
                <a:sym typeface="Poppins"/>
              </a:rPr>
              <a:t>intern</a:t>
            </a:r>
            <a:r>
              <a:rPr lang="en" sz="1100">
                <a:solidFill>
                  <a:srgbClr val="1F1F1F"/>
                </a:solidFill>
                <a:latin typeface="Poppins"/>
                <a:ea typeface="Poppins"/>
                <a:cs typeface="Poppins"/>
                <a:sym typeface="Poppins"/>
              </a:rPr>
              <a:t>, analisis ini bertujuan dalam menentukan keputusan bisnis yang tepat dengan mengolah data transaksi operasional dari berbagai cabang di Indonesia. Terdapat empat dataset yang diintegrasikan termasuk perhitungan laba dan profit bisnis melalui </a:t>
            </a:r>
            <a:r>
              <a:rPr i="1" lang="en" sz="1100">
                <a:solidFill>
                  <a:srgbClr val="1F1F1F"/>
                </a:solidFill>
                <a:latin typeface="Poppins"/>
                <a:ea typeface="Poppins"/>
                <a:cs typeface="Poppins"/>
                <a:sym typeface="Poppins"/>
              </a:rPr>
              <a:t>Google Bigquery. </a:t>
            </a:r>
            <a:r>
              <a:rPr lang="en" sz="1100">
                <a:solidFill>
                  <a:schemeClr val="dk1"/>
                </a:solidFill>
                <a:latin typeface="Poppins"/>
                <a:ea typeface="Poppins"/>
                <a:cs typeface="Poppins"/>
                <a:sym typeface="Poppins"/>
              </a:rPr>
              <a:t>Hasil pengolahan data tersebut kemudian disajikan dalam bentuk </a:t>
            </a:r>
            <a:r>
              <a:rPr i="1" lang="en" sz="1100">
                <a:solidFill>
                  <a:schemeClr val="dk1"/>
                </a:solidFill>
                <a:latin typeface="Poppins"/>
                <a:ea typeface="Poppins"/>
                <a:cs typeface="Poppins"/>
                <a:sym typeface="Poppins"/>
              </a:rPr>
              <a:t>dashboard</a:t>
            </a:r>
            <a:r>
              <a:rPr lang="en" sz="1100">
                <a:solidFill>
                  <a:schemeClr val="dk1"/>
                </a:solidFill>
                <a:latin typeface="Poppins"/>
                <a:ea typeface="Poppins"/>
                <a:cs typeface="Poppins"/>
                <a:sym typeface="Poppins"/>
              </a:rPr>
              <a:t> interaktif melalui Looker Studio guna memvisualisasikan tren penjualan, profitabilitas, serta tingkat kepuasan pelanggan secara komprehensif. </a:t>
            </a:r>
            <a:endParaRPr sz="1100">
              <a:latin typeface="Poppins"/>
              <a:ea typeface="Poppins"/>
              <a:cs typeface="Poppins"/>
              <a:sym typeface="Poppins"/>
            </a:endParaRPr>
          </a:p>
        </p:txBody>
      </p:sp>
      <p:sp>
        <p:nvSpPr>
          <p:cNvPr id="103" name="Google Shape;103;g265ee868302_0_99"/>
          <p:cNvSpPr txBox="1"/>
          <p:nvPr/>
        </p:nvSpPr>
        <p:spPr>
          <a:xfrm>
            <a:off x="340500" y="452038"/>
            <a:ext cx="8463000" cy="6465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5000"/>
              <a:buFont typeface="Arial"/>
              <a:buNone/>
            </a:pPr>
            <a:r>
              <a:rPr b="1" i="0" lang="en" sz="3000" u="none" cap="none" strike="noStrike">
                <a:solidFill>
                  <a:srgbClr val="000000"/>
                </a:solidFill>
                <a:latin typeface="Rubik"/>
                <a:ea typeface="Rubik"/>
                <a:cs typeface="Rubik"/>
                <a:sym typeface="Rubik"/>
              </a:rPr>
              <a:t>Project </a:t>
            </a:r>
            <a:r>
              <a:rPr b="1" i="0" lang="en" sz="3000" u="none" cap="none" strike="noStrike">
                <a:solidFill>
                  <a:schemeClr val="accent5"/>
                </a:solidFill>
                <a:latin typeface="Rubik"/>
                <a:ea typeface="Rubik"/>
                <a:cs typeface="Rubik"/>
                <a:sym typeface="Rubik"/>
              </a:rPr>
              <a:t>Portfolio</a:t>
            </a:r>
            <a:endParaRPr b="1" i="0" sz="3000" u="none" cap="none" strike="noStrike">
              <a:solidFill>
                <a:schemeClr val="accent5"/>
              </a:solidFill>
              <a:latin typeface="Rubik"/>
              <a:ea typeface="Rubik"/>
              <a:cs typeface="Rubik"/>
              <a:sym typeface="Rubik"/>
            </a:endParaRPr>
          </a:p>
        </p:txBody>
      </p:sp>
      <p:sp>
        <p:nvSpPr>
          <p:cNvPr id="104" name="Google Shape;104;g265ee868302_0_99"/>
          <p:cNvSpPr/>
          <p:nvPr/>
        </p:nvSpPr>
        <p:spPr>
          <a:xfrm>
            <a:off x="261672" y="2650584"/>
            <a:ext cx="5340600" cy="4434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latin typeface="Poppins"/>
                <a:ea typeface="Poppins"/>
                <a:cs typeface="Poppins"/>
                <a:sym typeface="Poppins"/>
              </a:rPr>
              <a:t>kf_final_transaction.csv</a:t>
            </a:r>
            <a:r>
              <a:rPr lang="en" sz="1100">
                <a:latin typeface="Poppins"/>
                <a:ea typeface="Poppins"/>
                <a:cs typeface="Poppins"/>
                <a:sym typeface="Poppins"/>
              </a:rPr>
              <a:t>: ID transaksi, produk, cabang, pelanggan, tanggal, harga, diskon, dan rating transaksi.</a:t>
            </a:r>
            <a:endParaRPr sz="1100">
              <a:latin typeface="Poppins"/>
              <a:ea typeface="Poppins"/>
              <a:cs typeface="Poppins"/>
              <a:sym typeface="Poppins"/>
            </a:endParaRPr>
          </a:p>
        </p:txBody>
      </p:sp>
      <p:sp>
        <p:nvSpPr>
          <p:cNvPr id="105" name="Google Shape;105;g265ee868302_0_99"/>
          <p:cNvSpPr/>
          <p:nvPr/>
        </p:nvSpPr>
        <p:spPr>
          <a:xfrm>
            <a:off x="261672" y="3257034"/>
            <a:ext cx="5340600" cy="4434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latin typeface="Poppins"/>
                <a:ea typeface="Poppins"/>
                <a:cs typeface="Poppins"/>
                <a:sym typeface="Poppins"/>
              </a:rPr>
              <a:t>kf_product.csv</a:t>
            </a:r>
            <a:r>
              <a:rPr lang="en" sz="1100">
                <a:latin typeface="Poppins"/>
                <a:ea typeface="Poppins"/>
                <a:cs typeface="Poppins"/>
                <a:sym typeface="Poppins"/>
              </a:rPr>
              <a:t>: kode, nama, kategori, harga</a:t>
            </a:r>
            <a:endParaRPr sz="1100">
              <a:latin typeface="Poppins"/>
              <a:ea typeface="Poppins"/>
              <a:cs typeface="Poppins"/>
              <a:sym typeface="Poppins"/>
            </a:endParaRPr>
          </a:p>
        </p:txBody>
      </p:sp>
      <p:sp>
        <p:nvSpPr>
          <p:cNvPr id="106" name="Google Shape;106;g265ee868302_0_99"/>
          <p:cNvSpPr/>
          <p:nvPr/>
        </p:nvSpPr>
        <p:spPr>
          <a:xfrm>
            <a:off x="261672" y="3863484"/>
            <a:ext cx="5340600" cy="4434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latin typeface="Poppins"/>
                <a:ea typeface="Poppins"/>
                <a:cs typeface="Poppins"/>
                <a:sym typeface="Poppins"/>
              </a:rPr>
              <a:t>kf_inventory.csv</a:t>
            </a:r>
            <a:r>
              <a:rPr lang="en" sz="1100">
                <a:latin typeface="Poppins"/>
                <a:ea typeface="Poppins"/>
                <a:cs typeface="Poppins"/>
                <a:sym typeface="Poppins"/>
              </a:rPr>
              <a:t>: kode inventory, cabang, produk, nama produk, jumlah stok</a:t>
            </a:r>
            <a:endParaRPr sz="1100">
              <a:latin typeface="Poppins"/>
              <a:ea typeface="Poppins"/>
              <a:cs typeface="Poppins"/>
              <a:sym typeface="Poppins"/>
            </a:endParaRPr>
          </a:p>
        </p:txBody>
      </p:sp>
      <p:sp>
        <p:nvSpPr>
          <p:cNvPr id="107" name="Google Shape;107;g265ee868302_0_99"/>
          <p:cNvSpPr/>
          <p:nvPr/>
        </p:nvSpPr>
        <p:spPr>
          <a:xfrm>
            <a:off x="261672" y="4469934"/>
            <a:ext cx="5340600" cy="4434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100">
                <a:latin typeface="Poppins"/>
                <a:ea typeface="Poppins"/>
                <a:cs typeface="Poppins"/>
                <a:sym typeface="Poppins"/>
              </a:rPr>
              <a:t>kf_kantor_cabang.csv</a:t>
            </a:r>
            <a:r>
              <a:rPr lang="en" sz="1100">
                <a:latin typeface="Poppins"/>
                <a:ea typeface="Poppins"/>
                <a:cs typeface="Poppins"/>
                <a:sym typeface="Poppins"/>
              </a:rPr>
              <a:t>: ID cabang, kategori, nama kantor, kota, provinsi, penilaian konsumen</a:t>
            </a:r>
            <a:endParaRPr sz="1100">
              <a:latin typeface="Poppins"/>
              <a:ea typeface="Poppins"/>
              <a:cs typeface="Poppins"/>
              <a:sym typeface="Poppins"/>
            </a:endParaRPr>
          </a:p>
        </p:txBody>
      </p:sp>
      <p:sp>
        <p:nvSpPr>
          <p:cNvPr id="108" name="Google Shape;108;g265ee868302_0_99"/>
          <p:cNvSpPr txBox="1"/>
          <p:nvPr/>
        </p:nvSpPr>
        <p:spPr>
          <a:xfrm>
            <a:off x="5714998" y="2385825"/>
            <a:ext cx="3222000" cy="267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50">
                <a:solidFill>
                  <a:schemeClr val="dk1"/>
                </a:solidFill>
                <a:latin typeface="Poppins"/>
                <a:ea typeface="Poppins"/>
                <a:cs typeface="Poppins"/>
                <a:sym typeface="Poppins"/>
              </a:rPr>
              <a:t>PROBLEM STATEMENT</a:t>
            </a:r>
            <a:endParaRPr b="1" sz="950">
              <a:solidFill>
                <a:schemeClr val="dk1"/>
              </a:solidFill>
              <a:latin typeface="Poppins"/>
              <a:ea typeface="Poppins"/>
              <a:cs typeface="Poppins"/>
              <a:sym typeface="Poppins"/>
            </a:endParaRPr>
          </a:p>
          <a:p>
            <a:pPr indent="0" lvl="0" marL="0" rtl="0" algn="just">
              <a:spcBef>
                <a:spcPts val="0"/>
              </a:spcBef>
              <a:spcAft>
                <a:spcPts val="0"/>
              </a:spcAft>
              <a:buNone/>
            </a:pPr>
            <a:r>
              <a:t/>
            </a:r>
            <a:endParaRPr b="1" sz="950">
              <a:solidFill>
                <a:schemeClr val="dk1"/>
              </a:solidFill>
              <a:latin typeface="Poppins"/>
              <a:ea typeface="Poppins"/>
              <a:cs typeface="Poppins"/>
              <a:sym typeface="Poppins"/>
            </a:endParaRPr>
          </a:p>
          <a:p>
            <a:pPr indent="-288925" lvl="0" marL="228600" rtl="0" algn="just">
              <a:spcBef>
                <a:spcPts val="0"/>
              </a:spcBef>
              <a:spcAft>
                <a:spcPts val="0"/>
              </a:spcAft>
              <a:buClr>
                <a:schemeClr val="dk1"/>
              </a:buClr>
              <a:buSzPts val="950"/>
              <a:buFont typeface="Poppins"/>
              <a:buAutoNum type="arabicPeriod"/>
            </a:pPr>
            <a:r>
              <a:rPr lang="en" sz="950">
                <a:solidFill>
                  <a:schemeClr val="dk1"/>
                </a:solidFill>
                <a:latin typeface="Poppins"/>
                <a:ea typeface="Poppins"/>
                <a:cs typeface="Poppins"/>
                <a:sym typeface="Poppins"/>
              </a:rPr>
              <a:t>Bagaimana perbandingan pendapatan (</a:t>
            </a:r>
            <a:r>
              <a:rPr i="1" lang="en" sz="950">
                <a:solidFill>
                  <a:schemeClr val="dk1"/>
                </a:solidFill>
                <a:latin typeface="Poppins"/>
                <a:ea typeface="Poppins"/>
                <a:cs typeface="Poppins"/>
                <a:sym typeface="Poppins"/>
              </a:rPr>
              <a:t>revenue</a:t>
            </a:r>
            <a:r>
              <a:rPr lang="en" sz="950">
                <a:solidFill>
                  <a:schemeClr val="dk1"/>
                </a:solidFill>
                <a:latin typeface="Poppins"/>
                <a:ea typeface="Poppins"/>
                <a:cs typeface="Poppins"/>
                <a:sym typeface="Poppins"/>
              </a:rPr>
              <a:t>) Kimia Farma secara tahunan dari tahun 2020 hingga 2023?</a:t>
            </a:r>
            <a:endParaRPr sz="950">
              <a:solidFill>
                <a:schemeClr val="dk1"/>
              </a:solidFill>
              <a:latin typeface="Poppins"/>
              <a:ea typeface="Poppins"/>
              <a:cs typeface="Poppins"/>
              <a:sym typeface="Poppins"/>
            </a:endParaRPr>
          </a:p>
          <a:p>
            <a:pPr indent="-288925" lvl="0" marL="228600" rtl="0" algn="just">
              <a:spcBef>
                <a:spcPts val="0"/>
              </a:spcBef>
              <a:spcAft>
                <a:spcPts val="0"/>
              </a:spcAft>
              <a:buClr>
                <a:schemeClr val="dk1"/>
              </a:buClr>
              <a:buSzPts val="950"/>
              <a:buAutoNum type="arabicPeriod"/>
            </a:pPr>
            <a:r>
              <a:rPr lang="en" sz="950">
                <a:solidFill>
                  <a:schemeClr val="dk1"/>
                </a:solidFill>
                <a:latin typeface="Poppins"/>
                <a:ea typeface="Poppins"/>
                <a:cs typeface="Poppins"/>
                <a:sym typeface="Poppins"/>
              </a:rPr>
              <a:t>Provinsi mana saja yang masuk dalam Top 10 berdasarkan total jumlah transaksi terbanyak?</a:t>
            </a:r>
            <a:endParaRPr sz="950">
              <a:solidFill>
                <a:schemeClr val="dk1"/>
              </a:solidFill>
              <a:latin typeface="Poppins"/>
              <a:ea typeface="Poppins"/>
              <a:cs typeface="Poppins"/>
              <a:sym typeface="Poppins"/>
            </a:endParaRPr>
          </a:p>
          <a:p>
            <a:pPr indent="-288925" lvl="0" marL="228600" rtl="0" algn="just">
              <a:spcBef>
                <a:spcPts val="0"/>
              </a:spcBef>
              <a:spcAft>
                <a:spcPts val="0"/>
              </a:spcAft>
              <a:buClr>
                <a:schemeClr val="dk1"/>
              </a:buClr>
              <a:buSzPts val="950"/>
              <a:buAutoNum type="arabicPeriod"/>
            </a:pPr>
            <a:r>
              <a:rPr lang="en" sz="950">
                <a:solidFill>
                  <a:schemeClr val="dk1"/>
                </a:solidFill>
                <a:latin typeface="Poppins"/>
                <a:ea typeface="Poppins"/>
                <a:cs typeface="Poppins"/>
                <a:sym typeface="Poppins"/>
              </a:rPr>
              <a:t>Provinsi mana saja yang masuk dalam Top 10 berdasarkan kontribusi penjualan bersih (</a:t>
            </a:r>
            <a:r>
              <a:rPr i="1" lang="en" sz="950">
                <a:solidFill>
                  <a:schemeClr val="dk1"/>
                </a:solidFill>
                <a:latin typeface="Poppins"/>
                <a:ea typeface="Poppins"/>
                <a:cs typeface="Poppins"/>
                <a:sym typeface="Poppins"/>
              </a:rPr>
              <a:t>nett sales</a:t>
            </a:r>
            <a:r>
              <a:rPr lang="en" sz="950">
                <a:solidFill>
                  <a:schemeClr val="dk1"/>
                </a:solidFill>
                <a:latin typeface="Poppins"/>
                <a:ea typeface="Poppins"/>
                <a:cs typeface="Poppins"/>
                <a:sym typeface="Poppins"/>
              </a:rPr>
              <a:t>) terbesar?</a:t>
            </a:r>
            <a:endParaRPr sz="950">
              <a:solidFill>
                <a:schemeClr val="dk1"/>
              </a:solidFill>
              <a:latin typeface="Poppins"/>
              <a:ea typeface="Poppins"/>
              <a:cs typeface="Poppins"/>
              <a:sym typeface="Poppins"/>
            </a:endParaRPr>
          </a:p>
          <a:p>
            <a:pPr indent="-288925" lvl="0" marL="228600" rtl="0" algn="just">
              <a:spcBef>
                <a:spcPts val="0"/>
              </a:spcBef>
              <a:spcAft>
                <a:spcPts val="0"/>
              </a:spcAft>
              <a:buClr>
                <a:schemeClr val="dk1"/>
              </a:buClr>
              <a:buSzPts val="950"/>
              <a:buAutoNum type="arabicPeriod"/>
            </a:pPr>
            <a:r>
              <a:rPr lang="en" sz="950">
                <a:solidFill>
                  <a:schemeClr val="dk1"/>
                </a:solidFill>
                <a:latin typeface="Poppins"/>
                <a:ea typeface="Poppins"/>
                <a:cs typeface="Poppins"/>
                <a:sym typeface="Poppins"/>
              </a:rPr>
              <a:t>Cabang mana saja yang masuk dalam Top 5 dengan rating cabang tertinggi, tetapi memiliki rating transaksi terendah?</a:t>
            </a:r>
            <a:endParaRPr sz="950">
              <a:solidFill>
                <a:schemeClr val="dk1"/>
              </a:solidFill>
              <a:latin typeface="Poppins"/>
              <a:ea typeface="Poppins"/>
              <a:cs typeface="Poppins"/>
              <a:sym typeface="Poppins"/>
            </a:endParaRPr>
          </a:p>
          <a:p>
            <a:pPr indent="-288925" lvl="0" marL="228600" rtl="0" algn="just">
              <a:spcBef>
                <a:spcPts val="0"/>
              </a:spcBef>
              <a:spcAft>
                <a:spcPts val="0"/>
              </a:spcAft>
              <a:buClr>
                <a:schemeClr val="dk1"/>
              </a:buClr>
              <a:buSzPts val="950"/>
              <a:buFont typeface="Poppins"/>
              <a:buAutoNum type="arabicPeriod"/>
            </a:pPr>
            <a:r>
              <a:rPr lang="en" sz="950">
                <a:solidFill>
                  <a:schemeClr val="dk1"/>
                </a:solidFill>
                <a:latin typeface="Poppins"/>
                <a:ea typeface="Poppins"/>
                <a:cs typeface="Poppins"/>
                <a:sym typeface="Poppins"/>
              </a:rPr>
              <a:t>Bagaimana sebaran total keuntungan (</a:t>
            </a:r>
            <a:r>
              <a:rPr i="1" lang="en" sz="950">
                <a:solidFill>
                  <a:schemeClr val="dk1"/>
                </a:solidFill>
                <a:latin typeface="Poppins"/>
                <a:ea typeface="Poppins"/>
                <a:cs typeface="Poppins"/>
                <a:sym typeface="Poppins"/>
              </a:rPr>
              <a:t>nett profit</a:t>
            </a:r>
            <a:r>
              <a:rPr lang="en" sz="950">
                <a:solidFill>
                  <a:schemeClr val="dk1"/>
                </a:solidFill>
                <a:latin typeface="Poppins"/>
                <a:ea typeface="Poppins"/>
                <a:cs typeface="Poppins"/>
                <a:sym typeface="Poppins"/>
              </a:rPr>
              <a:t>) di setiap provinsi Indonesia jika dipetakan secara geografis (</a:t>
            </a:r>
            <a:r>
              <a:rPr i="1" lang="en" sz="950">
                <a:solidFill>
                  <a:schemeClr val="dk1"/>
                </a:solidFill>
                <a:latin typeface="Poppins"/>
                <a:ea typeface="Poppins"/>
                <a:cs typeface="Poppins"/>
                <a:sym typeface="Poppins"/>
              </a:rPr>
              <a:t>Geo Map</a:t>
            </a:r>
            <a:r>
              <a:rPr lang="en" sz="950">
                <a:solidFill>
                  <a:schemeClr val="dk1"/>
                </a:solidFill>
                <a:latin typeface="Poppins"/>
                <a:ea typeface="Poppins"/>
                <a:cs typeface="Poppins"/>
                <a:sym typeface="Poppins"/>
              </a:rPr>
              <a:t>)?</a:t>
            </a:r>
            <a:endParaRPr sz="950">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23ec2985a68_1_3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14" name="Google Shape;114;g23ec2985a68_1_33"/>
          <p:cNvPicPr preferRelativeResize="0"/>
          <p:nvPr/>
        </p:nvPicPr>
        <p:blipFill>
          <a:blip r:embed="rId4">
            <a:alphaModFix/>
          </a:blip>
          <a:stretch>
            <a:fillRect/>
          </a:stretch>
        </p:blipFill>
        <p:spPr>
          <a:xfrm>
            <a:off x="189575" y="1497425"/>
            <a:ext cx="2787801" cy="2989111"/>
          </a:xfrm>
          <a:prstGeom prst="rect">
            <a:avLst/>
          </a:prstGeom>
          <a:noFill/>
          <a:ln>
            <a:noFill/>
          </a:ln>
        </p:spPr>
      </p:pic>
      <p:pic>
        <p:nvPicPr>
          <p:cNvPr id="115" name="Google Shape;115;g23ec2985a68_1_33"/>
          <p:cNvPicPr preferRelativeResize="0"/>
          <p:nvPr/>
        </p:nvPicPr>
        <p:blipFill rotWithShape="1">
          <a:blip r:embed="rId5">
            <a:alphaModFix/>
          </a:blip>
          <a:srcRect b="5649" l="0" r="0" t="5658"/>
          <a:stretch/>
        </p:blipFill>
        <p:spPr>
          <a:xfrm>
            <a:off x="7317600" y="185625"/>
            <a:ext cx="1399902" cy="541300"/>
          </a:xfrm>
          <a:prstGeom prst="rect">
            <a:avLst/>
          </a:prstGeom>
          <a:noFill/>
          <a:ln>
            <a:noFill/>
          </a:ln>
        </p:spPr>
      </p:pic>
      <p:sp>
        <p:nvSpPr>
          <p:cNvPr id="116" name="Google Shape;116;g23ec2985a68_1_33"/>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u="none" cap="none" strike="noStrike">
                <a:solidFill>
                  <a:srgbClr val="000000"/>
                </a:solidFill>
                <a:latin typeface="Rubik"/>
                <a:ea typeface="Rubik"/>
                <a:cs typeface="Rubik"/>
                <a:sym typeface="Rubik"/>
              </a:rPr>
              <a:t>Importing Dataset to BigQuery</a:t>
            </a:r>
            <a:endParaRPr b="1" i="0" sz="2700" u="none" cap="none" strike="noStrike">
              <a:solidFill>
                <a:srgbClr val="000000"/>
              </a:solidFill>
              <a:latin typeface="Rubik"/>
              <a:ea typeface="Rubik"/>
              <a:cs typeface="Rubik"/>
              <a:sym typeface="Rubik"/>
            </a:endParaRPr>
          </a:p>
        </p:txBody>
      </p:sp>
      <p:sp>
        <p:nvSpPr>
          <p:cNvPr id="117" name="Google Shape;117;g23ec2985a68_1_33"/>
          <p:cNvSpPr/>
          <p:nvPr/>
        </p:nvSpPr>
        <p:spPr>
          <a:xfrm>
            <a:off x="1934861" y="3067625"/>
            <a:ext cx="754800" cy="1539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g23ec2985a68_1_33"/>
          <p:cNvSpPr/>
          <p:nvPr/>
        </p:nvSpPr>
        <p:spPr>
          <a:xfrm>
            <a:off x="599093" y="4310968"/>
            <a:ext cx="754800" cy="1539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g23ec2985a68_1_33"/>
          <p:cNvSpPr/>
          <p:nvPr/>
        </p:nvSpPr>
        <p:spPr>
          <a:xfrm>
            <a:off x="1044986" y="1497425"/>
            <a:ext cx="1153200" cy="2937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0" name="Google Shape;120;g23ec2985a68_1_33"/>
          <p:cNvPicPr preferRelativeResize="0"/>
          <p:nvPr/>
        </p:nvPicPr>
        <p:blipFill>
          <a:blip r:embed="rId6">
            <a:alphaModFix/>
          </a:blip>
          <a:stretch>
            <a:fillRect/>
          </a:stretch>
        </p:blipFill>
        <p:spPr>
          <a:xfrm>
            <a:off x="3094153" y="1388825"/>
            <a:ext cx="2207974" cy="3206300"/>
          </a:xfrm>
          <a:prstGeom prst="rect">
            <a:avLst/>
          </a:prstGeom>
          <a:noFill/>
          <a:ln>
            <a:noFill/>
          </a:ln>
        </p:spPr>
      </p:pic>
      <p:sp>
        <p:nvSpPr>
          <p:cNvPr id="121" name="Google Shape;121;g23ec2985a68_1_33"/>
          <p:cNvSpPr/>
          <p:nvPr/>
        </p:nvSpPr>
        <p:spPr>
          <a:xfrm>
            <a:off x="4452952" y="2255200"/>
            <a:ext cx="754800" cy="1539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g23ec2985a68_1_33"/>
          <p:cNvSpPr/>
          <p:nvPr/>
        </p:nvSpPr>
        <p:spPr>
          <a:xfrm>
            <a:off x="3392277" y="3962125"/>
            <a:ext cx="1292400" cy="6330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g23ec2985a68_1_33"/>
          <p:cNvSpPr txBox="1"/>
          <p:nvPr/>
        </p:nvSpPr>
        <p:spPr>
          <a:xfrm>
            <a:off x="5452300" y="1841475"/>
            <a:ext cx="3482400" cy="22812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0"/>
              </a:spcBef>
              <a:spcAft>
                <a:spcPts val="0"/>
              </a:spcAft>
              <a:buClr>
                <a:srgbClr val="1F1F1F"/>
              </a:buClr>
              <a:buSzPts val="1200"/>
              <a:buFont typeface="Poppins"/>
              <a:buAutoNum type="arabicPeriod"/>
            </a:pPr>
            <a:r>
              <a:rPr lang="en" sz="1200">
                <a:solidFill>
                  <a:srgbClr val="1F1F1F"/>
                </a:solidFill>
                <a:latin typeface="Poppins"/>
                <a:ea typeface="Poppins"/>
                <a:cs typeface="Poppins"/>
                <a:sym typeface="Poppins"/>
              </a:rPr>
              <a:t>Membuat projek baru pada Google Cloud menggunakan </a:t>
            </a:r>
            <a:r>
              <a:rPr b="1" lang="en" sz="1200">
                <a:solidFill>
                  <a:srgbClr val="1F1F1F"/>
                </a:solidFill>
                <a:latin typeface="Poppins"/>
                <a:ea typeface="Poppins"/>
                <a:cs typeface="Poppins"/>
                <a:sym typeface="Poppins"/>
              </a:rPr>
              <a:t>RakaminKFAnalytics</a:t>
            </a:r>
            <a:endParaRPr b="1" sz="1200">
              <a:solidFill>
                <a:srgbClr val="1F1F1F"/>
              </a:solidFill>
              <a:latin typeface="Poppins"/>
              <a:ea typeface="Poppins"/>
              <a:cs typeface="Poppins"/>
              <a:sym typeface="Poppins"/>
            </a:endParaRPr>
          </a:p>
          <a:p>
            <a:pPr indent="-304800" lvl="0" marL="457200" rtl="0" algn="just">
              <a:lnSpc>
                <a:spcPct val="115000"/>
              </a:lnSpc>
              <a:spcBef>
                <a:spcPts val="0"/>
              </a:spcBef>
              <a:spcAft>
                <a:spcPts val="0"/>
              </a:spcAft>
              <a:buClr>
                <a:srgbClr val="1F1F1F"/>
              </a:buClr>
              <a:buSzPts val="1200"/>
              <a:buFont typeface="Poppins"/>
              <a:buAutoNum type="arabicPeriod"/>
            </a:pPr>
            <a:r>
              <a:rPr lang="en" sz="1200">
                <a:solidFill>
                  <a:srgbClr val="1F1F1F"/>
                </a:solidFill>
                <a:latin typeface="Poppins"/>
                <a:ea typeface="Poppins"/>
                <a:cs typeface="Poppins"/>
                <a:sym typeface="Poppins"/>
              </a:rPr>
              <a:t>Membuat dataset baru </a:t>
            </a:r>
            <a:r>
              <a:rPr b="1" lang="en" sz="1200">
                <a:solidFill>
                  <a:srgbClr val="1F1F1F"/>
                </a:solidFill>
                <a:latin typeface="Poppins"/>
                <a:ea typeface="Poppins"/>
                <a:cs typeface="Poppins"/>
                <a:sym typeface="Poppins"/>
              </a:rPr>
              <a:t>kimia_farma</a:t>
            </a:r>
            <a:endParaRPr b="1" sz="1200">
              <a:solidFill>
                <a:srgbClr val="1F1F1F"/>
              </a:solidFill>
              <a:latin typeface="Poppins"/>
              <a:ea typeface="Poppins"/>
              <a:cs typeface="Poppins"/>
              <a:sym typeface="Poppins"/>
            </a:endParaRPr>
          </a:p>
          <a:p>
            <a:pPr indent="-304800" lvl="0" marL="457200" rtl="0" algn="just">
              <a:lnSpc>
                <a:spcPct val="115000"/>
              </a:lnSpc>
              <a:spcBef>
                <a:spcPts val="0"/>
              </a:spcBef>
              <a:spcAft>
                <a:spcPts val="0"/>
              </a:spcAft>
              <a:buClr>
                <a:srgbClr val="1F1F1F"/>
              </a:buClr>
              <a:buSzPts val="1200"/>
              <a:buFont typeface="Poppins"/>
              <a:buAutoNum type="arabicPeriod"/>
            </a:pPr>
            <a:r>
              <a:rPr lang="en" sz="1200">
                <a:solidFill>
                  <a:srgbClr val="1F1F1F"/>
                </a:solidFill>
                <a:latin typeface="Poppins"/>
                <a:ea typeface="Poppins"/>
                <a:cs typeface="Poppins"/>
                <a:sym typeface="Poppins"/>
              </a:rPr>
              <a:t>Import file masing-masing dataset dengan membuat tabel</a:t>
            </a:r>
            <a:endParaRPr sz="1200">
              <a:solidFill>
                <a:srgbClr val="1F1F1F"/>
              </a:solidFill>
              <a:latin typeface="Poppins"/>
              <a:ea typeface="Poppins"/>
              <a:cs typeface="Poppins"/>
              <a:sym typeface="Poppins"/>
            </a:endParaRPr>
          </a:p>
          <a:p>
            <a:pPr indent="-304800" lvl="0" marL="457200" rtl="0" algn="just">
              <a:lnSpc>
                <a:spcPct val="115000"/>
              </a:lnSpc>
              <a:spcBef>
                <a:spcPts val="0"/>
              </a:spcBef>
              <a:spcAft>
                <a:spcPts val="0"/>
              </a:spcAft>
              <a:buClr>
                <a:srgbClr val="1F1F1F"/>
              </a:buClr>
              <a:buSzPts val="1200"/>
              <a:buFont typeface="Poppins"/>
              <a:buAutoNum type="arabicPeriod"/>
            </a:pPr>
            <a:r>
              <a:rPr lang="en" sz="1200">
                <a:solidFill>
                  <a:srgbClr val="1F1F1F"/>
                </a:solidFill>
                <a:latin typeface="Poppins"/>
                <a:ea typeface="Poppins"/>
                <a:cs typeface="Poppins"/>
                <a:sym typeface="Poppins"/>
              </a:rPr>
              <a:t>Dataset </a:t>
            </a:r>
            <a:r>
              <a:rPr b="1" lang="en" sz="1200">
                <a:solidFill>
                  <a:srgbClr val="1F1F1F"/>
                </a:solidFill>
                <a:latin typeface="Poppins"/>
                <a:ea typeface="Poppins"/>
                <a:cs typeface="Poppins"/>
                <a:sym typeface="Poppins"/>
              </a:rPr>
              <a:t>kf_final_transaction</a:t>
            </a:r>
            <a:r>
              <a:rPr lang="en" sz="1200">
                <a:solidFill>
                  <a:srgbClr val="1F1F1F"/>
                </a:solidFill>
                <a:latin typeface="Poppins"/>
                <a:ea typeface="Poppins"/>
                <a:cs typeface="Poppins"/>
                <a:sym typeface="Poppins"/>
              </a:rPr>
              <a:t>, </a:t>
            </a:r>
            <a:r>
              <a:rPr b="1" lang="en" sz="1200">
                <a:solidFill>
                  <a:srgbClr val="1F1F1F"/>
                </a:solidFill>
                <a:latin typeface="Poppins"/>
                <a:ea typeface="Poppins"/>
                <a:cs typeface="Poppins"/>
                <a:sym typeface="Poppins"/>
              </a:rPr>
              <a:t>kf_inventory</a:t>
            </a:r>
            <a:r>
              <a:rPr lang="en" sz="1200">
                <a:solidFill>
                  <a:srgbClr val="1F1F1F"/>
                </a:solidFill>
                <a:latin typeface="Poppins"/>
                <a:ea typeface="Poppins"/>
                <a:cs typeface="Poppins"/>
                <a:sym typeface="Poppins"/>
              </a:rPr>
              <a:t>,</a:t>
            </a:r>
            <a:r>
              <a:rPr b="1" lang="en" sz="1200">
                <a:solidFill>
                  <a:srgbClr val="1F1F1F"/>
                </a:solidFill>
                <a:latin typeface="Poppins"/>
                <a:ea typeface="Poppins"/>
                <a:cs typeface="Poppins"/>
                <a:sym typeface="Poppins"/>
              </a:rPr>
              <a:t> kf_kantor_cabang</a:t>
            </a:r>
            <a:r>
              <a:rPr lang="en" sz="1200">
                <a:solidFill>
                  <a:srgbClr val="1F1F1F"/>
                </a:solidFill>
                <a:latin typeface="Poppins"/>
                <a:ea typeface="Poppins"/>
                <a:cs typeface="Poppins"/>
                <a:sym typeface="Poppins"/>
              </a:rPr>
              <a:t>,</a:t>
            </a:r>
            <a:r>
              <a:rPr b="1" lang="en" sz="1200">
                <a:solidFill>
                  <a:srgbClr val="1F1F1F"/>
                </a:solidFill>
                <a:latin typeface="Poppins"/>
                <a:ea typeface="Poppins"/>
                <a:cs typeface="Poppins"/>
                <a:sym typeface="Poppins"/>
              </a:rPr>
              <a:t> </a:t>
            </a:r>
            <a:r>
              <a:rPr lang="en" sz="1200">
                <a:solidFill>
                  <a:srgbClr val="1F1F1F"/>
                </a:solidFill>
                <a:latin typeface="Poppins"/>
                <a:ea typeface="Poppins"/>
                <a:cs typeface="Poppins"/>
                <a:sym typeface="Poppins"/>
              </a:rPr>
              <a:t>dan </a:t>
            </a:r>
            <a:r>
              <a:rPr b="1" lang="en" sz="1200">
                <a:solidFill>
                  <a:srgbClr val="1F1F1F"/>
                </a:solidFill>
                <a:latin typeface="Poppins"/>
                <a:ea typeface="Poppins"/>
                <a:cs typeface="Poppins"/>
                <a:sym typeface="Poppins"/>
              </a:rPr>
              <a:t>kf_product </a:t>
            </a:r>
            <a:r>
              <a:rPr lang="en" sz="1200">
                <a:solidFill>
                  <a:srgbClr val="1F1F1F"/>
                </a:solidFill>
                <a:latin typeface="Poppins"/>
                <a:ea typeface="Poppins"/>
                <a:cs typeface="Poppins"/>
                <a:sym typeface="Poppins"/>
              </a:rPr>
              <a:t>telah diimport</a:t>
            </a:r>
            <a:endParaRPr sz="1200">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g23ec2985a68_1_4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29" name="Google Shape;129;g23ec2985a68_1_49"/>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0" name="Google Shape;130;g23ec2985a68_1_49"/>
          <p:cNvSpPr txBox="1"/>
          <p:nvPr/>
        </p:nvSpPr>
        <p:spPr>
          <a:xfrm>
            <a:off x="340500" y="452038"/>
            <a:ext cx="8463000" cy="5982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u="none" cap="none" strike="noStrike">
                <a:solidFill>
                  <a:srgbClr val="000000"/>
                </a:solidFill>
                <a:latin typeface="Rubik"/>
                <a:ea typeface="Rubik"/>
                <a:cs typeface="Rubik"/>
                <a:sym typeface="Rubik"/>
              </a:rPr>
              <a:t>BigQuery Syntax</a:t>
            </a:r>
            <a:endParaRPr b="1" i="0" sz="2700" u="none" cap="none" strike="noStrike">
              <a:solidFill>
                <a:srgbClr val="000000"/>
              </a:solidFill>
              <a:latin typeface="Rubik"/>
              <a:ea typeface="Rubik"/>
              <a:cs typeface="Rubik"/>
              <a:sym typeface="Rubik"/>
            </a:endParaRPr>
          </a:p>
        </p:txBody>
      </p:sp>
      <p:pic>
        <p:nvPicPr>
          <p:cNvPr id="131" name="Google Shape;131;g23ec2985a68_1_49"/>
          <p:cNvPicPr preferRelativeResize="0"/>
          <p:nvPr/>
        </p:nvPicPr>
        <p:blipFill>
          <a:blip r:embed="rId5">
            <a:alphaModFix/>
          </a:blip>
          <a:stretch>
            <a:fillRect/>
          </a:stretch>
        </p:blipFill>
        <p:spPr>
          <a:xfrm>
            <a:off x="340500" y="1120158"/>
            <a:ext cx="4342675" cy="3860924"/>
          </a:xfrm>
          <a:prstGeom prst="rect">
            <a:avLst/>
          </a:prstGeom>
          <a:noFill/>
          <a:ln>
            <a:noFill/>
          </a:ln>
        </p:spPr>
      </p:pic>
      <p:sp>
        <p:nvSpPr>
          <p:cNvPr id="132" name="Google Shape;132;g23ec2985a68_1_49"/>
          <p:cNvSpPr txBox="1"/>
          <p:nvPr/>
        </p:nvSpPr>
        <p:spPr>
          <a:xfrm>
            <a:off x="4809178" y="1255875"/>
            <a:ext cx="4171500" cy="3589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Poppins"/>
                <a:ea typeface="Poppins"/>
                <a:cs typeface="Poppins"/>
                <a:sym typeface="Poppins"/>
              </a:rPr>
              <a:t>Transformasi data dilakukan dengan menggabungkan tabel utama transaksi, produk, dan cabang menjadi satu tabel siap pakai bernama </a:t>
            </a:r>
            <a:r>
              <a:rPr lang="en" sz="1100">
                <a:solidFill>
                  <a:srgbClr val="0000FF"/>
                </a:solidFill>
                <a:latin typeface="Poppins"/>
                <a:ea typeface="Poppins"/>
                <a:cs typeface="Poppins"/>
                <a:sym typeface="Poppins"/>
              </a:rPr>
              <a:t>analysisfinal</a:t>
            </a:r>
            <a:r>
              <a:rPr lang="en" sz="1100">
                <a:solidFill>
                  <a:schemeClr val="dk1"/>
                </a:solidFill>
                <a:latin typeface="Poppins"/>
                <a:ea typeface="Poppins"/>
                <a:cs typeface="Poppins"/>
                <a:sym typeface="Poppins"/>
              </a:rPr>
              <a:t>. </a:t>
            </a:r>
            <a:endParaRPr sz="1100">
              <a:solidFill>
                <a:schemeClr val="dk1"/>
              </a:solidFill>
              <a:latin typeface="Poppins"/>
              <a:ea typeface="Poppins"/>
              <a:cs typeface="Poppins"/>
              <a:sym typeface="Poppins"/>
            </a:endParaRPr>
          </a:p>
          <a:p>
            <a:pPr indent="-298450" lvl="0" marL="457200" rtl="0" algn="just">
              <a:spcBef>
                <a:spcPts val="0"/>
              </a:spcBef>
              <a:spcAft>
                <a:spcPts val="0"/>
              </a:spcAft>
              <a:buClr>
                <a:schemeClr val="dk1"/>
              </a:buClr>
              <a:buSzPts val="1100"/>
              <a:buFont typeface="Poppins"/>
              <a:buChar char="●"/>
            </a:pPr>
            <a:r>
              <a:rPr b="1" lang="en" sz="1100">
                <a:solidFill>
                  <a:schemeClr val="dk1"/>
                </a:solidFill>
                <a:latin typeface="Poppins"/>
                <a:ea typeface="Poppins"/>
                <a:cs typeface="Poppins"/>
                <a:sym typeface="Poppins"/>
              </a:rPr>
              <a:t>Penggabungan Data</a:t>
            </a:r>
            <a:r>
              <a:rPr lang="en" sz="1100">
                <a:solidFill>
                  <a:schemeClr val="dk1"/>
                </a:solidFill>
                <a:latin typeface="Poppins"/>
                <a:ea typeface="Poppins"/>
                <a:cs typeface="Poppins"/>
                <a:sym typeface="Poppins"/>
              </a:rPr>
              <a:t>: Menggabungkan tabel </a:t>
            </a:r>
            <a:r>
              <a:rPr lang="en" sz="1100">
                <a:solidFill>
                  <a:srgbClr val="0000FF"/>
                </a:solidFill>
                <a:latin typeface="Poppins"/>
                <a:ea typeface="Poppins"/>
                <a:cs typeface="Poppins"/>
                <a:sym typeface="Poppins"/>
              </a:rPr>
              <a:t>kf_final_transaction</a:t>
            </a:r>
            <a:r>
              <a:rPr lang="en" sz="1100">
                <a:solidFill>
                  <a:schemeClr val="dk1"/>
                </a:solidFill>
                <a:latin typeface="Poppins"/>
                <a:ea typeface="Poppins"/>
                <a:cs typeface="Poppins"/>
                <a:sym typeface="Poppins"/>
              </a:rPr>
              <a:t> dengan </a:t>
            </a:r>
            <a:r>
              <a:rPr lang="en" sz="1100">
                <a:solidFill>
                  <a:srgbClr val="0000FF"/>
                </a:solidFill>
                <a:latin typeface="Poppins"/>
                <a:ea typeface="Poppins"/>
                <a:cs typeface="Poppins"/>
                <a:sym typeface="Poppins"/>
              </a:rPr>
              <a:t>kf_product</a:t>
            </a:r>
            <a:r>
              <a:rPr lang="en" sz="1100">
                <a:solidFill>
                  <a:schemeClr val="dk1"/>
                </a:solidFill>
                <a:latin typeface="Poppins"/>
                <a:ea typeface="Poppins"/>
                <a:cs typeface="Poppins"/>
                <a:sym typeface="Poppins"/>
              </a:rPr>
              <a:t> dan </a:t>
            </a:r>
            <a:r>
              <a:rPr lang="en" sz="1100">
                <a:solidFill>
                  <a:srgbClr val="0000FF"/>
                </a:solidFill>
                <a:latin typeface="Poppins"/>
                <a:ea typeface="Poppins"/>
                <a:cs typeface="Poppins"/>
                <a:sym typeface="Poppins"/>
              </a:rPr>
              <a:t>kf_kantor_cabang</a:t>
            </a:r>
            <a:r>
              <a:rPr lang="en" sz="1100">
                <a:solidFill>
                  <a:schemeClr val="dk1"/>
                </a:solidFill>
                <a:latin typeface="Poppins"/>
                <a:ea typeface="Poppins"/>
                <a:cs typeface="Poppins"/>
                <a:sym typeface="Poppins"/>
              </a:rPr>
              <a:t> menggunakan fungsi </a:t>
            </a:r>
            <a:r>
              <a:rPr lang="en" sz="1100">
                <a:solidFill>
                  <a:srgbClr val="0000FF"/>
                </a:solidFill>
                <a:latin typeface="Poppins"/>
                <a:ea typeface="Poppins"/>
                <a:cs typeface="Poppins"/>
                <a:sym typeface="Poppins"/>
              </a:rPr>
              <a:t>LEFT JOIN</a:t>
            </a:r>
            <a:r>
              <a:rPr lang="en" sz="1100">
                <a:solidFill>
                  <a:schemeClr val="dk1"/>
                </a:solidFill>
                <a:latin typeface="Poppins"/>
                <a:ea typeface="Poppins"/>
                <a:cs typeface="Poppins"/>
                <a:sym typeface="Poppins"/>
              </a:rPr>
              <a:t> berdasarkan kunci </a:t>
            </a:r>
            <a:r>
              <a:rPr lang="en" sz="1100">
                <a:solidFill>
                  <a:srgbClr val="0000FF"/>
                </a:solidFill>
                <a:latin typeface="Poppins"/>
                <a:ea typeface="Poppins"/>
                <a:cs typeface="Poppins"/>
                <a:sym typeface="Poppins"/>
              </a:rPr>
              <a:t>product_id</a:t>
            </a:r>
            <a:r>
              <a:rPr lang="en" sz="1100">
                <a:solidFill>
                  <a:schemeClr val="dk1"/>
                </a:solidFill>
                <a:latin typeface="Poppins"/>
                <a:ea typeface="Poppins"/>
                <a:cs typeface="Poppins"/>
                <a:sym typeface="Poppins"/>
              </a:rPr>
              <a:t> dan </a:t>
            </a:r>
            <a:r>
              <a:rPr lang="en" sz="1100">
                <a:solidFill>
                  <a:srgbClr val="188038"/>
                </a:solidFill>
                <a:latin typeface="Poppins"/>
                <a:ea typeface="Poppins"/>
                <a:cs typeface="Poppins"/>
                <a:sym typeface="Poppins"/>
              </a:rPr>
              <a:t>branch_id</a:t>
            </a:r>
            <a:r>
              <a:rPr lang="en"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298450" lvl="0" marL="457200" rtl="0" algn="just">
              <a:spcBef>
                <a:spcPts val="0"/>
              </a:spcBef>
              <a:spcAft>
                <a:spcPts val="0"/>
              </a:spcAft>
              <a:buClr>
                <a:schemeClr val="dk1"/>
              </a:buClr>
              <a:buSzPts val="1100"/>
              <a:buFont typeface="Poppins"/>
              <a:buChar char="●"/>
            </a:pPr>
            <a:r>
              <a:rPr b="1" lang="en" sz="1100">
                <a:solidFill>
                  <a:schemeClr val="dk1"/>
                </a:solidFill>
                <a:latin typeface="Poppins"/>
                <a:ea typeface="Poppins"/>
                <a:cs typeface="Poppins"/>
                <a:sym typeface="Poppins"/>
              </a:rPr>
              <a:t>Kalkulasi Margin Laba</a:t>
            </a:r>
            <a:r>
              <a:rPr lang="en" sz="1100">
                <a:solidFill>
                  <a:schemeClr val="dk1"/>
                </a:solidFill>
                <a:latin typeface="Poppins"/>
                <a:ea typeface="Poppins"/>
                <a:cs typeface="Poppins"/>
                <a:sym typeface="Poppins"/>
              </a:rPr>
              <a:t> (</a:t>
            </a:r>
            <a:r>
              <a:rPr lang="en" sz="1100">
                <a:solidFill>
                  <a:srgbClr val="0000FF"/>
                </a:solidFill>
                <a:latin typeface="Poppins"/>
                <a:ea typeface="Poppins"/>
                <a:cs typeface="Poppins"/>
                <a:sym typeface="Poppins"/>
              </a:rPr>
              <a:t>persentase_gross_laba</a:t>
            </a:r>
            <a:r>
              <a:rPr lang="en" sz="1100">
                <a:solidFill>
                  <a:schemeClr val="dk1"/>
                </a:solidFill>
                <a:latin typeface="Poppins"/>
                <a:ea typeface="Poppins"/>
                <a:cs typeface="Poppins"/>
                <a:sym typeface="Poppins"/>
              </a:rPr>
              <a:t>): Menggunakan kondisi </a:t>
            </a:r>
            <a:r>
              <a:rPr lang="en" sz="1100">
                <a:solidFill>
                  <a:srgbClr val="0000FF"/>
                </a:solidFill>
                <a:latin typeface="Poppins"/>
                <a:ea typeface="Poppins"/>
                <a:cs typeface="Poppins"/>
                <a:sym typeface="Poppins"/>
              </a:rPr>
              <a:t>CASE WHEN</a:t>
            </a:r>
            <a:r>
              <a:rPr lang="en" sz="1100">
                <a:solidFill>
                  <a:schemeClr val="dk1"/>
                </a:solidFill>
                <a:latin typeface="Poppins"/>
                <a:ea typeface="Poppins"/>
                <a:cs typeface="Poppins"/>
                <a:sym typeface="Poppins"/>
              </a:rPr>
              <a:t> untuk menentukan persentase margin keuntungan berjenjang (10% hingga 30%) berdasarkan tier harga produk (</a:t>
            </a:r>
            <a:r>
              <a:rPr lang="en" sz="1100">
                <a:solidFill>
                  <a:srgbClr val="0000FF"/>
                </a:solidFill>
                <a:latin typeface="Poppins"/>
                <a:ea typeface="Poppins"/>
                <a:cs typeface="Poppins"/>
                <a:sym typeface="Poppins"/>
              </a:rPr>
              <a:t>price</a:t>
            </a:r>
            <a:r>
              <a:rPr lang="en"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298450" lvl="0" marL="457200" rtl="0" algn="just">
              <a:spcBef>
                <a:spcPts val="0"/>
              </a:spcBef>
              <a:spcAft>
                <a:spcPts val="0"/>
              </a:spcAft>
              <a:buClr>
                <a:schemeClr val="dk1"/>
              </a:buClr>
              <a:buSzPts val="1100"/>
              <a:buFont typeface="Poppins"/>
              <a:buChar char="●"/>
            </a:pPr>
            <a:r>
              <a:rPr b="1" lang="en" sz="1100">
                <a:solidFill>
                  <a:schemeClr val="dk1"/>
                </a:solidFill>
                <a:latin typeface="Poppins"/>
                <a:ea typeface="Poppins"/>
                <a:cs typeface="Poppins"/>
                <a:sym typeface="Poppins"/>
              </a:rPr>
              <a:t>Kalkulasi Penjualan Bersih</a:t>
            </a:r>
            <a:r>
              <a:rPr lang="en" sz="1100">
                <a:solidFill>
                  <a:schemeClr val="dk1"/>
                </a:solidFill>
                <a:latin typeface="Poppins"/>
                <a:ea typeface="Poppins"/>
                <a:cs typeface="Poppins"/>
                <a:sym typeface="Poppins"/>
              </a:rPr>
              <a:t> (</a:t>
            </a:r>
            <a:r>
              <a:rPr lang="en" sz="1100">
                <a:solidFill>
                  <a:srgbClr val="188038"/>
                </a:solidFill>
                <a:latin typeface="Poppins"/>
                <a:ea typeface="Poppins"/>
                <a:cs typeface="Poppins"/>
                <a:sym typeface="Poppins"/>
              </a:rPr>
              <a:t>nett_sales</a:t>
            </a:r>
            <a:r>
              <a:rPr lang="en" sz="1100">
                <a:solidFill>
                  <a:schemeClr val="dk1"/>
                </a:solidFill>
                <a:latin typeface="Poppins"/>
                <a:ea typeface="Poppins"/>
                <a:cs typeface="Poppins"/>
                <a:sym typeface="Poppins"/>
              </a:rPr>
              <a:t>): Menghitung nilai transaksi riil setelah dipotong diskon dengan rumus </a:t>
            </a:r>
            <a:r>
              <a:rPr lang="en" sz="1100">
                <a:solidFill>
                  <a:srgbClr val="0000FF"/>
                </a:solidFill>
                <a:latin typeface="Poppins"/>
                <a:ea typeface="Poppins"/>
                <a:cs typeface="Poppins"/>
                <a:sym typeface="Poppins"/>
              </a:rPr>
              <a:t>price * (1 - discount_percentage)</a:t>
            </a:r>
            <a:r>
              <a:rPr lang="en"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298450" lvl="0" marL="457200" rtl="0" algn="just">
              <a:spcBef>
                <a:spcPts val="0"/>
              </a:spcBef>
              <a:spcAft>
                <a:spcPts val="0"/>
              </a:spcAft>
              <a:buClr>
                <a:schemeClr val="dk1"/>
              </a:buClr>
              <a:buSzPts val="1100"/>
              <a:buFont typeface="Poppins"/>
              <a:buChar char="●"/>
            </a:pPr>
            <a:r>
              <a:rPr b="1" lang="en" sz="1100">
                <a:solidFill>
                  <a:schemeClr val="dk1"/>
                </a:solidFill>
                <a:latin typeface="Poppins"/>
                <a:ea typeface="Poppins"/>
                <a:cs typeface="Poppins"/>
                <a:sym typeface="Poppins"/>
              </a:rPr>
              <a:t>Kalkulasi Keuntungan Bersih</a:t>
            </a:r>
            <a:r>
              <a:rPr lang="en" sz="1100">
                <a:solidFill>
                  <a:schemeClr val="dk1"/>
                </a:solidFill>
                <a:latin typeface="Poppins"/>
                <a:ea typeface="Poppins"/>
                <a:cs typeface="Poppins"/>
                <a:sym typeface="Poppins"/>
              </a:rPr>
              <a:t> (</a:t>
            </a:r>
            <a:r>
              <a:rPr lang="en" sz="1100">
                <a:solidFill>
                  <a:srgbClr val="0000FF"/>
                </a:solidFill>
                <a:latin typeface="Poppins"/>
                <a:ea typeface="Poppins"/>
                <a:cs typeface="Poppins"/>
                <a:sym typeface="Poppins"/>
              </a:rPr>
              <a:t>nett_profit</a:t>
            </a:r>
            <a:r>
              <a:rPr lang="en" sz="1100">
                <a:solidFill>
                  <a:schemeClr val="dk1"/>
                </a:solidFill>
                <a:latin typeface="Poppins"/>
                <a:ea typeface="Poppins"/>
                <a:cs typeface="Poppins"/>
                <a:sym typeface="Poppins"/>
              </a:rPr>
              <a:t>): Menghitung estimasi laba bersih Kimia Farma dengan mengalikan nilai </a:t>
            </a:r>
            <a:r>
              <a:rPr lang="en" sz="1100">
                <a:solidFill>
                  <a:srgbClr val="0000FF"/>
                </a:solidFill>
                <a:latin typeface="Poppins"/>
                <a:ea typeface="Poppins"/>
                <a:cs typeface="Poppins"/>
                <a:sym typeface="Poppins"/>
              </a:rPr>
              <a:t>nett_sales</a:t>
            </a:r>
            <a:r>
              <a:rPr lang="en" sz="1100">
                <a:solidFill>
                  <a:schemeClr val="dk1"/>
                </a:solidFill>
                <a:latin typeface="Poppins"/>
                <a:ea typeface="Poppins"/>
                <a:cs typeface="Poppins"/>
                <a:sym typeface="Poppins"/>
              </a:rPr>
              <a:t> dengan </a:t>
            </a:r>
            <a:r>
              <a:rPr lang="en" sz="1100">
                <a:solidFill>
                  <a:srgbClr val="0000FF"/>
                </a:solidFill>
                <a:latin typeface="Poppins"/>
                <a:ea typeface="Poppins"/>
                <a:cs typeface="Poppins"/>
                <a:sym typeface="Poppins"/>
              </a:rPr>
              <a:t>persentase_gross_laba</a:t>
            </a:r>
            <a:r>
              <a:rPr lang="en" sz="1100">
                <a:solidFill>
                  <a:schemeClr val="dk1"/>
                </a:solidFill>
                <a:latin typeface="Poppins"/>
                <a:ea typeface="Poppins"/>
                <a:cs typeface="Poppins"/>
                <a:sym typeface="Poppins"/>
              </a:rPr>
              <a:t>.</a:t>
            </a:r>
            <a:endParaRPr sz="1100">
              <a:solidFill>
                <a:schemeClr val="dk1"/>
              </a:solidFill>
              <a:latin typeface="Poppins"/>
              <a:ea typeface="Poppins"/>
              <a:cs typeface="Poppins"/>
              <a:sym typeface="Poppins"/>
            </a:endParaRPr>
          </a:p>
          <a:p>
            <a:pPr indent="0" lvl="0" marL="0" rtl="0" algn="just">
              <a:spcBef>
                <a:spcPts val="0"/>
              </a:spcBef>
              <a:spcAft>
                <a:spcPts val="0"/>
              </a:spcAft>
              <a:buNone/>
            </a:pPr>
            <a:r>
              <a:t/>
            </a:r>
            <a:endParaRPr sz="1100">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g23ec2985a68_1_42"/>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38" name="Google Shape;138;g23ec2985a68_1_42"/>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39" name="Google Shape;139;g23ec2985a68_1_42"/>
          <p:cNvSpPr txBox="1"/>
          <p:nvPr/>
        </p:nvSpPr>
        <p:spPr>
          <a:xfrm>
            <a:off x="340500" y="452038"/>
            <a:ext cx="8463000" cy="5982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u="none" cap="none" strike="noStrike">
                <a:solidFill>
                  <a:srgbClr val="000000"/>
                </a:solidFill>
                <a:latin typeface="Rubik"/>
                <a:ea typeface="Rubik"/>
                <a:cs typeface="Rubik"/>
                <a:sym typeface="Rubik"/>
              </a:rPr>
              <a:t>Tabel Analisa</a:t>
            </a:r>
            <a:endParaRPr b="1" i="0" sz="2700" u="none" cap="none" strike="noStrike">
              <a:solidFill>
                <a:srgbClr val="000000"/>
              </a:solidFill>
              <a:latin typeface="Rubik"/>
              <a:ea typeface="Rubik"/>
              <a:cs typeface="Rubik"/>
              <a:sym typeface="Rubik"/>
            </a:endParaRPr>
          </a:p>
        </p:txBody>
      </p:sp>
      <p:sp>
        <p:nvSpPr>
          <p:cNvPr id="140" name="Google Shape;140;g23ec2985a68_1_42"/>
          <p:cNvSpPr txBox="1"/>
          <p:nvPr/>
        </p:nvSpPr>
        <p:spPr>
          <a:xfrm>
            <a:off x="340494" y="1052350"/>
            <a:ext cx="8463000" cy="3540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just">
              <a:lnSpc>
                <a:spcPct val="150000"/>
              </a:lnSpc>
              <a:spcBef>
                <a:spcPts val="0"/>
              </a:spcBef>
              <a:spcAft>
                <a:spcPts val="0"/>
              </a:spcAft>
              <a:buNone/>
            </a:pPr>
            <a:r>
              <a:t/>
            </a:r>
            <a:endParaRPr sz="1100">
              <a:solidFill>
                <a:schemeClr val="dk1"/>
              </a:solidFill>
              <a:latin typeface="Poppins"/>
              <a:ea typeface="Poppins"/>
              <a:cs typeface="Poppins"/>
              <a:sym typeface="Poppins"/>
            </a:endParaRPr>
          </a:p>
        </p:txBody>
      </p:sp>
      <p:pic>
        <p:nvPicPr>
          <p:cNvPr id="141" name="Google Shape;141;g23ec2985a68_1_42"/>
          <p:cNvPicPr preferRelativeResize="0"/>
          <p:nvPr/>
        </p:nvPicPr>
        <p:blipFill rotWithShape="1">
          <a:blip r:embed="rId5">
            <a:alphaModFix/>
          </a:blip>
          <a:srcRect b="0" l="0" r="43874" t="0"/>
          <a:stretch/>
        </p:blipFill>
        <p:spPr>
          <a:xfrm>
            <a:off x="340500" y="1757956"/>
            <a:ext cx="2790725" cy="3261143"/>
          </a:xfrm>
          <a:prstGeom prst="rect">
            <a:avLst/>
          </a:prstGeom>
          <a:noFill/>
          <a:ln>
            <a:noFill/>
          </a:ln>
        </p:spPr>
      </p:pic>
      <p:pic>
        <p:nvPicPr>
          <p:cNvPr id="142" name="Google Shape;142;g23ec2985a68_1_42"/>
          <p:cNvPicPr preferRelativeResize="0"/>
          <p:nvPr/>
        </p:nvPicPr>
        <p:blipFill>
          <a:blip r:embed="rId6">
            <a:alphaModFix/>
          </a:blip>
          <a:stretch>
            <a:fillRect/>
          </a:stretch>
        </p:blipFill>
        <p:spPr>
          <a:xfrm>
            <a:off x="3302650" y="1709008"/>
            <a:ext cx="5194025" cy="3310100"/>
          </a:xfrm>
          <a:prstGeom prst="rect">
            <a:avLst/>
          </a:prstGeom>
          <a:noFill/>
          <a:ln>
            <a:noFill/>
          </a:ln>
        </p:spPr>
      </p:pic>
      <p:sp>
        <p:nvSpPr>
          <p:cNvPr id="143" name="Google Shape;143;g23ec2985a68_1_42"/>
          <p:cNvSpPr txBox="1"/>
          <p:nvPr/>
        </p:nvSpPr>
        <p:spPr>
          <a:xfrm>
            <a:off x="340500" y="1014640"/>
            <a:ext cx="82686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solidFill>
                  <a:schemeClr val="dk1"/>
                </a:solidFill>
                <a:latin typeface="Poppins"/>
                <a:ea typeface="Poppins"/>
                <a:cs typeface="Poppins"/>
                <a:sym typeface="Poppins"/>
              </a:rPr>
              <a:t>Tabel analisa berikut adalah hasil agregasi tabel utama serta kalkulasi persentase gross laba dan nett (sales &amp; profit). Tabel ini mencakup 16 </a:t>
            </a:r>
            <a:r>
              <a:rPr i="1" lang="en" sz="1200">
                <a:solidFill>
                  <a:schemeClr val="dk1"/>
                </a:solidFill>
                <a:latin typeface="Poppins"/>
                <a:ea typeface="Poppins"/>
                <a:cs typeface="Poppins"/>
                <a:sym typeface="Poppins"/>
              </a:rPr>
              <a:t>field </a:t>
            </a:r>
            <a:r>
              <a:rPr lang="en" sz="1200">
                <a:solidFill>
                  <a:schemeClr val="dk1"/>
                </a:solidFill>
                <a:latin typeface="Poppins"/>
                <a:ea typeface="Poppins"/>
                <a:cs typeface="Poppins"/>
                <a:sym typeface="Poppins"/>
              </a:rPr>
              <a:t>dan 50 data yang akan digunakan sebagai </a:t>
            </a:r>
            <a:r>
              <a:rPr lang="en" sz="1200">
                <a:solidFill>
                  <a:schemeClr val="dk1"/>
                </a:solidFill>
                <a:latin typeface="Poppins"/>
                <a:ea typeface="Poppins"/>
                <a:cs typeface="Poppins"/>
                <a:sym typeface="Poppins"/>
              </a:rPr>
              <a:t>dataset</a:t>
            </a:r>
            <a:r>
              <a:rPr lang="en" sz="1200">
                <a:solidFill>
                  <a:schemeClr val="dk1"/>
                </a:solidFill>
                <a:latin typeface="Poppins"/>
                <a:ea typeface="Poppins"/>
                <a:cs typeface="Poppins"/>
                <a:sym typeface="Poppins"/>
              </a:rPr>
              <a:t> utama untuk visualisasi </a:t>
            </a:r>
            <a:r>
              <a:rPr i="1" lang="en" sz="1200">
                <a:solidFill>
                  <a:schemeClr val="dk1"/>
                </a:solidFill>
                <a:latin typeface="Poppins"/>
                <a:ea typeface="Poppins"/>
                <a:cs typeface="Poppins"/>
                <a:sym typeface="Poppins"/>
              </a:rPr>
              <a:t>dashboard</a:t>
            </a:r>
            <a:r>
              <a:rPr lang="en"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p:txBody>
      </p:sp>
      <p:sp>
        <p:nvSpPr>
          <p:cNvPr id="144" name="Google Shape;144;g23ec2985a68_1_42"/>
          <p:cNvSpPr/>
          <p:nvPr/>
        </p:nvSpPr>
        <p:spPr>
          <a:xfrm>
            <a:off x="698050" y="2737075"/>
            <a:ext cx="982800" cy="22821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g23ec2985a68_1_5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50" name="Google Shape;150;g23ec2985a68_1_56"/>
          <p:cNvPicPr preferRelativeResize="0"/>
          <p:nvPr/>
        </p:nvPicPr>
        <p:blipFill rotWithShape="1">
          <a:blip r:embed="rId4">
            <a:alphaModFix/>
          </a:blip>
          <a:srcRect b="5649" l="0" r="0" t="5658"/>
          <a:stretch/>
        </p:blipFill>
        <p:spPr>
          <a:xfrm>
            <a:off x="7317600" y="185625"/>
            <a:ext cx="1399902" cy="541300"/>
          </a:xfrm>
          <a:prstGeom prst="rect">
            <a:avLst/>
          </a:prstGeom>
          <a:noFill/>
          <a:ln>
            <a:noFill/>
          </a:ln>
        </p:spPr>
      </p:pic>
      <p:sp>
        <p:nvSpPr>
          <p:cNvPr id="151" name="Google Shape;151;g23ec2985a68_1_56"/>
          <p:cNvSpPr txBox="1"/>
          <p:nvPr/>
        </p:nvSpPr>
        <p:spPr>
          <a:xfrm>
            <a:off x="340500" y="452038"/>
            <a:ext cx="8463000" cy="5982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152" name="Google Shape;152;g23ec2985a68_1_56"/>
          <p:cNvSpPr txBox="1"/>
          <p:nvPr/>
        </p:nvSpPr>
        <p:spPr>
          <a:xfrm>
            <a:off x="4315900" y="1241400"/>
            <a:ext cx="4442100" cy="347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oppins"/>
                <a:ea typeface="Poppins"/>
                <a:cs typeface="Poppins"/>
                <a:sym typeface="Poppins"/>
              </a:rPr>
              <a:t>Fitur Dashboard :</a:t>
            </a:r>
            <a:endParaRPr sz="1200">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Filter bar</a:t>
            </a:r>
            <a:r>
              <a:rPr b="1" lang="en" sz="1200">
                <a:solidFill>
                  <a:schemeClr val="dk1"/>
                </a:solidFill>
                <a:latin typeface="Poppins"/>
                <a:ea typeface="Poppins"/>
                <a:cs typeface="Poppins"/>
                <a:sym typeface="Poppins"/>
              </a:rPr>
              <a:t> </a:t>
            </a:r>
            <a:r>
              <a:rPr lang="en" sz="1200">
                <a:solidFill>
                  <a:schemeClr val="dk1"/>
                </a:solidFill>
                <a:latin typeface="Poppins"/>
                <a:ea typeface="Poppins"/>
                <a:cs typeface="Poppins"/>
                <a:sym typeface="Poppins"/>
              </a:rPr>
              <a:t>→ data range (rentang tanggal), province (provinsi), city (kota) dan branch (cabang)</a:t>
            </a:r>
            <a:endParaRPr sz="1200">
              <a:solidFill>
                <a:schemeClr val="dk1"/>
              </a:solidFill>
              <a:latin typeface="Poppins"/>
              <a:ea typeface="Poppins"/>
              <a:cs typeface="Poppins"/>
              <a:sym typeface="Poppins"/>
            </a:endParaRPr>
          </a:p>
          <a:p>
            <a:pPr indent="-190500" lvl="0" marL="228600" rtl="0" algn="just">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Scorecard</a:t>
            </a:r>
            <a:r>
              <a:rPr b="1" lang="en" sz="1200">
                <a:solidFill>
                  <a:schemeClr val="dk1"/>
                </a:solidFill>
                <a:latin typeface="Poppins"/>
                <a:ea typeface="Poppins"/>
                <a:cs typeface="Poppins"/>
                <a:sym typeface="Poppins"/>
              </a:rPr>
              <a:t> </a:t>
            </a:r>
            <a:r>
              <a:rPr lang="en" sz="1200">
                <a:solidFill>
                  <a:schemeClr val="dk1"/>
                </a:solidFill>
                <a:latin typeface="Poppins"/>
                <a:ea typeface="Poppins"/>
                <a:cs typeface="Poppins"/>
                <a:sym typeface="Poppins"/>
              </a:rPr>
              <a:t>→ Nett Sales (Total nilai penjualan bersih), Nett Profit (Total estimasi laba bersih yang didapatkan), Total Transactions (Total akumulasi jumlah transaksi yang terjadi), Transactions Rating (Rata-rata penilaian setiap transaksi), Branch Rating (Rata-rata penilaian kantor cabang)</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Line Chart</a:t>
            </a:r>
            <a:r>
              <a:rPr lang="en" sz="1200">
                <a:solidFill>
                  <a:schemeClr val="dk1"/>
                </a:solidFill>
                <a:latin typeface="Poppins"/>
                <a:ea typeface="Poppins"/>
                <a:cs typeface="Poppins"/>
                <a:sym typeface="Poppins"/>
              </a:rPr>
              <a:t> → pendapatan tahun-ke-tahun</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Geo Map</a:t>
            </a:r>
            <a:r>
              <a:rPr lang="en" sz="1200">
                <a:solidFill>
                  <a:schemeClr val="dk1"/>
                </a:solidFill>
                <a:latin typeface="Poppins"/>
                <a:ea typeface="Poppins"/>
                <a:cs typeface="Poppins"/>
                <a:sym typeface="Poppins"/>
              </a:rPr>
              <a:t> → total profit berdasarkan provinsi</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Bar Chart</a:t>
            </a:r>
            <a:r>
              <a:rPr lang="en" sz="1200">
                <a:solidFill>
                  <a:schemeClr val="dk1"/>
                </a:solidFill>
                <a:latin typeface="Poppins"/>
                <a:ea typeface="Poppins"/>
                <a:cs typeface="Poppins"/>
                <a:sym typeface="Poppins"/>
              </a:rPr>
              <a:t> → top 10 provinsi berdasarkan nett sales &amp; total transaksi</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Table </a:t>
            </a:r>
            <a:r>
              <a:rPr lang="en" sz="1200">
                <a:solidFill>
                  <a:schemeClr val="dk1"/>
                </a:solidFill>
                <a:latin typeface="Poppins"/>
                <a:ea typeface="Poppins"/>
                <a:cs typeface="Poppins"/>
                <a:sym typeface="Poppins"/>
              </a:rPr>
              <a:t>→  top 5 cabang dengan rating cabang tertinggi dan rating transaksi terendah</a:t>
            </a:r>
            <a:endParaRPr sz="1200">
              <a:solidFill>
                <a:schemeClr val="dk1"/>
              </a:solidFill>
              <a:latin typeface="Poppins"/>
              <a:ea typeface="Poppins"/>
              <a:cs typeface="Poppins"/>
              <a:sym typeface="Poppins"/>
            </a:endParaRPr>
          </a:p>
          <a:p>
            <a:pPr indent="-190500" lvl="0" marL="228600" rtl="0" algn="l">
              <a:spcBef>
                <a:spcPts val="0"/>
              </a:spcBef>
              <a:spcAft>
                <a:spcPts val="0"/>
              </a:spcAft>
              <a:buClr>
                <a:schemeClr val="dk1"/>
              </a:buClr>
              <a:buSzPts val="1200"/>
              <a:buFont typeface="Poppins"/>
              <a:buChar char="●"/>
            </a:pPr>
            <a:r>
              <a:rPr b="1" i="1" lang="en" sz="1200">
                <a:solidFill>
                  <a:schemeClr val="dk1"/>
                </a:solidFill>
                <a:latin typeface="Poppins"/>
                <a:ea typeface="Poppins"/>
                <a:cs typeface="Poppins"/>
                <a:sym typeface="Poppins"/>
              </a:rPr>
              <a:t>Pivot Table</a:t>
            </a:r>
            <a:r>
              <a:rPr lang="en" sz="1200">
                <a:solidFill>
                  <a:schemeClr val="dk1"/>
                </a:solidFill>
                <a:latin typeface="Poppins"/>
                <a:ea typeface="Poppins"/>
                <a:cs typeface="Poppins"/>
                <a:sym typeface="Poppins"/>
              </a:rPr>
              <a:t> → permintaan produk berdasarkan tipe cabang </a:t>
            </a:r>
            <a:endParaRPr sz="1200">
              <a:solidFill>
                <a:schemeClr val="dk1"/>
              </a:solidFill>
              <a:latin typeface="Poppins"/>
              <a:ea typeface="Poppins"/>
              <a:cs typeface="Poppins"/>
              <a:sym typeface="Poppins"/>
            </a:endParaRPr>
          </a:p>
        </p:txBody>
      </p:sp>
      <p:pic>
        <p:nvPicPr>
          <p:cNvPr id="153" name="Google Shape;153;g23ec2985a68_1_56"/>
          <p:cNvPicPr preferRelativeResize="0"/>
          <p:nvPr/>
        </p:nvPicPr>
        <p:blipFill>
          <a:blip r:embed="rId6">
            <a:alphaModFix/>
          </a:blip>
          <a:stretch>
            <a:fillRect/>
          </a:stretch>
        </p:blipFill>
        <p:spPr>
          <a:xfrm>
            <a:off x="1094900" y="1036300"/>
            <a:ext cx="2823051" cy="38881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g12ea9925351bc72c_0"/>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59" name="Google Shape;159;g12ea9925351bc72c_0"/>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60" name="Google Shape;160;g12ea9925351bc72c_0"/>
          <p:cNvSpPr txBox="1"/>
          <p:nvPr/>
        </p:nvSpPr>
        <p:spPr>
          <a:xfrm>
            <a:off x="340500" y="452038"/>
            <a:ext cx="8463000" cy="5982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161" name="Google Shape;161;g12ea9925351bc72c_0"/>
          <p:cNvSpPr txBox="1"/>
          <p:nvPr/>
        </p:nvSpPr>
        <p:spPr>
          <a:xfrm>
            <a:off x="426225" y="1104900"/>
            <a:ext cx="37554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Key Findings</a:t>
            </a:r>
            <a:endParaRPr b="1" sz="1500">
              <a:latin typeface="Poppins"/>
              <a:ea typeface="Poppins"/>
              <a:cs typeface="Poppins"/>
              <a:sym typeface="Poppins"/>
            </a:endParaRPr>
          </a:p>
        </p:txBody>
      </p:sp>
      <p:pic>
        <p:nvPicPr>
          <p:cNvPr id="162" name="Google Shape;162;g12ea9925351bc72c_0"/>
          <p:cNvPicPr preferRelativeResize="0"/>
          <p:nvPr/>
        </p:nvPicPr>
        <p:blipFill>
          <a:blip r:embed="rId6">
            <a:alphaModFix/>
          </a:blip>
          <a:stretch>
            <a:fillRect/>
          </a:stretch>
        </p:blipFill>
        <p:spPr>
          <a:xfrm>
            <a:off x="691823" y="1647948"/>
            <a:ext cx="3224200" cy="2109675"/>
          </a:xfrm>
          <a:prstGeom prst="rect">
            <a:avLst/>
          </a:prstGeom>
          <a:noFill/>
          <a:ln>
            <a:noFill/>
          </a:ln>
        </p:spPr>
      </p:pic>
      <p:pic>
        <p:nvPicPr>
          <p:cNvPr id="163" name="Google Shape;163;g12ea9925351bc72c_0"/>
          <p:cNvPicPr preferRelativeResize="0"/>
          <p:nvPr/>
        </p:nvPicPr>
        <p:blipFill>
          <a:blip r:embed="rId7">
            <a:alphaModFix/>
          </a:blip>
          <a:stretch>
            <a:fillRect/>
          </a:stretch>
        </p:blipFill>
        <p:spPr>
          <a:xfrm>
            <a:off x="4852998" y="1524000"/>
            <a:ext cx="3265125" cy="2233625"/>
          </a:xfrm>
          <a:prstGeom prst="rect">
            <a:avLst/>
          </a:prstGeom>
          <a:noFill/>
          <a:ln>
            <a:noFill/>
          </a:ln>
        </p:spPr>
      </p:pic>
      <p:sp>
        <p:nvSpPr>
          <p:cNvPr id="164" name="Google Shape;164;g12ea9925351bc72c_0"/>
          <p:cNvSpPr txBox="1"/>
          <p:nvPr/>
        </p:nvSpPr>
        <p:spPr>
          <a:xfrm>
            <a:off x="563129" y="3945788"/>
            <a:ext cx="3524400" cy="76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100">
                <a:latin typeface="Poppins"/>
                <a:ea typeface="Poppins"/>
                <a:cs typeface="Poppins"/>
                <a:sym typeface="Poppins"/>
              </a:rPr>
              <a:t>Revenue </a:t>
            </a:r>
            <a:r>
              <a:rPr lang="en" sz="1100">
                <a:latin typeface="Poppins Medium"/>
                <a:ea typeface="Poppins Medium"/>
                <a:cs typeface="Poppins Medium"/>
                <a:sym typeface="Poppins Medium"/>
              </a:rPr>
              <a:t>atau pendapatan bersih tertinggi yang didapatkan Kimia Farma adalah pada tahun </a:t>
            </a:r>
            <a:r>
              <a:rPr b="1" lang="en" sz="1100">
                <a:latin typeface="Poppins"/>
                <a:ea typeface="Poppins"/>
                <a:cs typeface="Poppins"/>
                <a:sym typeface="Poppins"/>
              </a:rPr>
              <a:t>2022 </a:t>
            </a:r>
            <a:r>
              <a:rPr lang="en" sz="1100">
                <a:latin typeface="Poppins Medium"/>
                <a:ea typeface="Poppins Medium"/>
                <a:cs typeface="Poppins Medium"/>
                <a:sym typeface="Poppins Medium"/>
              </a:rPr>
              <a:t>sebesar</a:t>
            </a:r>
            <a:r>
              <a:rPr b="1" lang="en" sz="1100">
                <a:latin typeface="Poppins"/>
                <a:ea typeface="Poppins"/>
                <a:cs typeface="Poppins"/>
                <a:sym typeface="Poppins"/>
              </a:rPr>
              <a:t> Rp80.578.445.844</a:t>
            </a:r>
            <a:endParaRPr b="1" sz="1100">
              <a:latin typeface="Poppins"/>
              <a:ea typeface="Poppins"/>
              <a:cs typeface="Poppins"/>
              <a:sym typeface="Poppins"/>
            </a:endParaRPr>
          </a:p>
        </p:txBody>
      </p:sp>
      <p:sp>
        <p:nvSpPr>
          <p:cNvPr id="165" name="Google Shape;165;g12ea9925351bc72c_0"/>
          <p:cNvSpPr txBox="1"/>
          <p:nvPr/>
        </p:nvSpPr>
        <p:spPr>
          <a:xfrm>
            <a:off x="4723367" y="3945788"/>
            <a:ext cx="3524400" cy="76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100">
                <a:latin typeface="Poppins"/>
                <a:ea typeface="Poppins"/>
                <a:cs typeface="Poppins"/>
                <a:sym typeface="Poppins"/>
              </a:rPr>
              <a:t>Total Profit </a:t>
            </a:r>
            <a:r>
              <a:rPr lang="en" sz="1100">
                <a:latin typeface="Poppins Medium"/>
                <a:ea typeface="Poppins Medium"/>
                <a:cs typeface="Poppins Medium"/>
                <a:sym typeface="Poppins Medium"/>
              </a:rPr>
              <a:t>tertinggi</a:t>
            </a:r>
            <a:r>
              <a:rPr b="1" lang="en" sz="1100">
                <a:latin typeface="Poppins"/>
                <a:ea typeface="Poppins"/>
                <a:cs typeface="Poppins"/>
                <a:sym typeface="Poppins"/>
              </a:rPr>
              <a:t> </a:t>
            </a:r>
            <a:r>
              <a:rPr lang="en" sz="1100">
                <a:latin typeface="Poppins Medium"/>
                <a:ea typeface="Poppins Medium"/>
                <a:cs typeface="Poppins Medium"/>
                <a:sym typeface="Poppins Medium"/>
              </a:rPr>
              <a:t>dimiliki Provinsi Jawa Barat </a:t>
            </a:r>
            <a:r>
              <a:rPr lang="en" sz="1100">
                <a:latin typeface="Poppins Medium"/>
                <a:ea typeface="Poppins Medium"/>
                <a:cs typeface="Poppins Medium"/>
                <a:sym typeface="Poppins Medium"/>
              </a:rPr>
              <a:t>sebesar</a:t>
            </a:r>
            <a:r>
              <a:rPr b="1" lang="en" sz="1100">
                <a:latin typeface="Poppins"/>
                <a:ea typeface="Poppins"/>
                <a:cs typeface="Poppins"/>
                <a:sym typeface="Poppins"/>
              </a:rPr>
              <a:t> Rp26.940.703.195.</a:t>
            </a:r>
            <a:endParaRPr b="1" sz="11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g409d7fd6ca9_1_45"/>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71" name="Google Shape;171;g409d7fd6ca9_1_45"/>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72" name="Google Shape;172;g409d7fd6ca9_1_45"/>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173" name="Google Shape;173;g409d7fd6ca9_1_45"/>
          <p:cNvSpPr txBox="1"/>
          <p:nvPr/>
        </p:nvSpPr>
        <p:spPr>
          <a:xfrm>
            <a:off x="426225" y="1104900"/>
            <a:ext cx="37554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Key Findings </a:t>
            </a:r>
            <a:endParaRPr b="1" sz="1500">
              <a:latin typeface="Poppins"/>
              <a:ea typeface="Poppins"/>
              <a:cs typeface="Poppins"/>
              <a:sym typeface="Poppins"/>
            </a:endParaRPr>
          </a:p>
        </p:txBody>
      </p:sp>
      <p:pic>
        <p:nvPicPr>
          <p:cNvPr id="174" name="Google Shape;174;g409d7fd6ca9_1_45"/>
          <p:cNvPicPr preferRelativeResize="0"/>
          <p:nvPr/>
        </p:nvPicPr>
        <p:blipFill>
          <a:blip r:embed="rId6">
            <a:alphaModFix/>
          </a:blip>
          <a:stretch>
            <a:fillRect/>
          </a:stretch>
        </p:blipFill>
        <p:spPr>
          <a:xfrm>
            <a:off x="426225" y="1719250"/>
            <a:ext cx="4175908" cy="2233625"/>
          </a:xfrm>
          <a:prstGeom prst="rect">
            <a:avLst/>
          </a:prstGeom>
          <a:noFill/>
          <a:ln>
            <a:noFill/>
          </a:ln>
        </p:spPr>
      </p:pic>
      <p:pic>
        <p:nvPicPr>
          <p:cNvPr id="175" name="Google Shape;175;g409d7fd6ca9_1_45"/>
          <p:cNvPicPr preferRelativeResize="0"/>
          <p:nvPr/>
        </p:nvPicPr>
        <p:blipFill>
          <a:blip r:embed="rId7">
            <a:alphaModFix/>
          </a:blip>
          <a:stretch>
            <a:fillRect/>
          </a:stretch>
        </p:blipFill>
        <p:spPr>
          <a:xfrm>
            <a:off x="4644316" y="1719250"/>
            <a:ext cx="4203410" cy="2233625"/>
          </a:xfrm>
          <a:prstGeom prst="rect">
            <a:avLst/>
          </a:prstGeom>
          <a:noFill/>
          <a:ln>
            <a:noFill/>
          </a:ln>
        </p:spPr>
      </p:pic>
      <p:sp>
        <p:nvSpPr>
          <p:cNvPr id="176" name="Google Shape;176;g409d7fd6ca9_1_45"/>
          <p:cNvSpPr txBox="1"/>
          <p:nvPr/>
        </p:nvSpPr>
        <p:spPr>
          <a:xfrm>
            <a:off x="2397302" y="4194214"/>
            <a:ext cx="4349400" cy="76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b="1" lang="en" sz="1100">
                <a:latin typeface="Poppins"/>
                <a:ea typeface="Poppins"/>
                <a:cs typeface="Poppins"/>
                <a:sym typeface="Poppins"/>
              </a:rPr>
              <a:t>Provinsi Jawa Barat</a:t>
            </a:r>
            <a:r>
              <a:rPr lang="en" sz="1100">
                <a:latin typeface="Poppins Medium"/>
                <a:ea typeface="Poppins Medium"/>
                <a:cs typeface="Poppins Medium"/>
                <a:sym typeface="Poppins Medium"/>
              </a:rPr>
              <a:t> mendominasi sebagai provinsi tertinggi dengan pendapatan bersih sebesar 94 miliar rupiah dan total transaksi sebanyak 198 ribu</a:t>
            </a:r>
            <a:endParaRPr sz="1100">
              <a:latin typeface="Poppins Medium"/>
              <a:ea typeface="Poppins Medium"/>
              <a:cs typeface="Poppins Medium"/>
              <a:sym typeface="Poppins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g409d7fd6ca9_1_5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82" name="Google Shape;182;g409d7fd6ca9_1_56"/>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83" name="Google Shape;183;g409d7fd6ca9_1_56"/>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184" name="Google Shape;184;g409d7fd6ca9_1_56"/>
          <p:cNvSpPr txBox="1"/>
          <p:nvPr/>
        </p:nvSpPr>
        <p:spPr>
          <a:xfrm>
            <a:off x="426225" y="1104900"/>
            <a:ext cx="37554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Key Findings </a:t>
            </a:r>
            <a:endParaRPr b="1" sz="1500">
              <a:latin typeface="Poppins"/>
              <a:ea typeface="Poppins"/>
              <a:cs typeface="Poppins"/>
              <a:sym typeface="Poppins"/>
            </a:endParaRPr>
          </a:p>
        </p:txBody>
      </p:sp>
      <p:pic>
        <p:nvPicPr>
          <p:cNvPr id="185" name="Google Shape;185;g409d7fd6ca9_1_56"/>
          <p:cNvPicPr preferRelativeResize="0"/>
          <p:nvPr/>
        </p:nvPicPr>
        <p:blipFill rotWithShape="1">
          <a:blip r:embed="rId6">
            <a:alphaModFix/>
          </a:blip>
          <a:srcRect b="0" l="0" r="0" t="10241"/>
          <a:stretch/>
        </p:blipFill>
        <p:spPr>
          <a:xfrm>
            <a:off x="619125" y="1793571"/>
            <a:ext cx="7905749" cy="1580325"/>
          </a:xfrm>
          <a:prstGeom prst="rect">
            <a:avLst/>
          </a:prstGeom>
          <a:noFill/>
          <a:ln>
            <a:noFill/>
          </a:ln>
        </p:spPr>
      </p:pic>
      <p:sp>
        <p:nvSpPr>
          <p:cNvPr id="186" name="Google Shape;186;g409d7fd6ca9_1_56"/>
          <p:cNvSpPr txBox="1"/>
          <p:nvPr/>
        </p:nvSpPr>
        <p:spPr>
          <a:xfrm>
            <a:off x="1844400" y="3709025"/>
            <a:ext cx="5455200" cy="76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100">
                <a:latin typeface="Poppins Medium"/>
                <a:ea typeface="Poppins Medium"/>
                <a:cs typeface="Poppins Medium"/>
                <a:sym typeface="Poppins Medium"/>
              </a:rPr>
              <a:t>Cabang </a:t>
            </a:r>
            <a:r>
              <a:rPr b="1" lang="en" sz="1100">
                <a:latin typeface="Poppins"/>
                <a:ea typeface="Poppins"/>
                <a:cs typeface="Poppins"/>
                <a:sym typeface="Poppins"/>
              </a:rPr>
              <a:t>Kimia Farma Klinik-Apotek-Laboratorium</a:t>
            </a:r>
            <a:r>
              <a:rPr lang="en" sz="1100">
                <a:latin typeface="Poppins Medium"/>
                <a:ea typeface="Poppins Medium"/>
                <a:cs typeface="Poppins Medium"/>
                <a:sym typeface="Poppins Medium"/>
              </a:rPr>
              <a:t> di </a:t>
            </a:r>
            <a:r>
              <a:rPr b="1" lang="en" sz="1100">
                <a:latin typeface="Poppins"/>
                <a:ea typeface="Poppins"/>
                <a:cs typeface="Poppins"/>
                <a:sym typeface="Poppins"/>
              </a:rPr>
              <a:t>Kota Pematangsiantar, Provinsi Sumatera Utara </a:t>
            </a:r>
            <a:r>
              <a:rPr lang="en" sz="1100">
                <a:latin typeface="Poppins Medium"/>
                <a:ea typeface="Poppins Medium"/>
                <a:cs typeface="Poppins Medium"/>
                <a:sym typeface="Poppins Medium"/>
              </a:rPr>
              <a:t>mendapatkan rata-rata penilaian cabang tertinggi dan rata-rata penilaian transaksi terendah</a:t>
            </a:r>
            <a:endParaRPr sz="1100">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409da1495ef_1_9"/>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192" name="Google Shape;192;g409da1495ef_1_9"/>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193" name="Google Shape;193;g409da1495ef_1_9"/>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194" name="Google Shape;194;g409da1495ef_1_9"/>
          <p:cNvSpPr txBox="1"/>
          <p:nvPr/>
        </p:nvSpPr>
        <p:spPr>
          <a:xfrm>
            <a:off x="426225" y="1104900"/>
            <a:ext cx="37554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Poppins"/>
                <a:ea typeface="Poppins"/>
                <a:cs typeface="Poppins"/>
                <a:sym typeface="Poppins"/>
              </a:rPr>
              <a:t>Key Findings </a:t>
            </a:r>
            <a:endParaRPr b="1" sz="1500">
              <a:latin typeface="Poppins"/>
              <a:ea typeface="Poppins"/>
              <a:cs typeface="Poppins"/>
              <a:sym typeface="Poppins"/>
            </a:endParaRPr>
          </a:p>
        </p:txBody>
      </p:sp>
      <p:sp>
        <p:nvSpPr>
          <p:cNvPr id="195" name="Google Shape;195;g409da1495ef_1_9"/>
          <p:cNvSpPr txBox="1"/>
          <p:nvPr/>
        </p:nvSpPr>
        <p:spPr>
          <a:xfrm>
            <a:off x="550500" y="3965519"/>
            <a:ext cx="8043000" cy="1007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en" sz="1100">
                <a:solidFill>
                  <a:schemeClr val="dk1"/>
                </a:solidFill>
                <a:latin typeface="Poppins"/>
                <a:ea typeface="Poppins"/>
                <a:cs typeface="Poppins"/>
                <a:sym typeface="Poppins"/>
              </a:rPr>
              <a:t>Kategori </a:t>
            </a:r>
            <a:r>
              <a:rPr b="1" i="1" lang="en" sz="1100">
                <a:solidFill>
                  <a:schemeClr val="dk1"/>
                </a:solidFill>
                <a:latin typeface="Poppins"/>
                <a:ea typeface="Poppins"/>
                <a:cs typeface="Poppins"/>
                <a:sym typeface="Poppins"/>
              </a:rPr>
              <a:t>Psycholeptics drugs, Hypnotics and sedatives drugs</a:t>
            </a:r>
            <a:r>
              <a:rPr b="1" lang="en" sz="1100">
                <a:solidFill>
                  <a:schemeClr val="dk1"/>
                </a:solidFill>
                <a:latin typeface="Poppins"/>
                <a:ea typeface="Poppins"/>
                <a:cs typeface="Poppins"/>
                <a:sym typeface="Poppins"/>
              </a:rPr>
              <a:t> </a:t>
            </a:r>
            <a:r>
              <a:rPr lang="en" sz="1100">
                <a:solidFill>
                  <a:schemeClr val="dk1"/>
                </a:solidFill>
                <a:latin typeface="Poppins"/>
                <a:ea typeface="Poppins"/>
                <a:cs typeface="Poppins"/>
                <a:sym typeface="Poppins"/>
              </a:rPr>
              <a:t>menjadi obat dengan volume transaksi tertinggi di seluruh tipe cabang (mencapai ~44,7k–45,3k transaksi). Obat ini golongan yang menekan atau menurunkan aktivitas sistem saraf pusat, yang mencakup obat penenang (sedatives), obat tidur (hypnotics), dan antipsikotik.   Cabang bertipe </a:t>
            </a:r>
            <a:r>
              <a:rPr b="1" lang="en" sz="1100">
                <a:solidFill>
                  <a:schemeClr val="dk1"/>
                </a:solidFill>
                <a:latin typeface="Poppins"/>
                <a:ea typeface="Poppins"/>
                <a:cs typeface="Poppins"/>
                <a:sym typeface="Poppins"/>
              </a:rPr>
              <a:t>Kimia Farma - Apotek </a:t>
            </a:r>
            <a:r>
              <a:rPr lang="en" sz="1100">
                <a:solidFill>
                  <a:schemeClr val="dk1"/>
                </a:solidFill>
                <a:latin typeface="Poppins"/>
                <a:ea typeface="Poppins"/>
                <a:cs typeface="Poppins"/>
                <a:sym typeface="Poppins"/>
              </a:rPr>
              <a:t>sedikit lebih unggul dalam volume transaksi secara keseluruhan dibanding tipe fasilitas lainnya. </a:t>
            </a:r>
            <a:endParaRPr sz="1100">
              <a:latin typeface="Poppins"/>
              <a:ea typeface="Poppins"/>
              <a:cs typeface="Poppins"/>
              <a:sym typeface="Poppins"/>
            </a:endParaRPr>
          </a:p>
        </p:txBody>
      </p:sp>
      <p:pic>
        <p:nvPicPr>
          <p:cNvPr id="196" name="Google Shape;196;g409da1495ef_1_9"/>
          <p:cNvPicPr preferRelativeResize="0"/>
          <p:nvPr/>
        </p:nvPicPr>
        <p:blipFill>
          <a:blip r:embed="rId6">
            <a:alphaModFix/>
          </a:blip>
          <a:stretch>
            <a:fillRect/>
          </a:stretch>
        </p:blipFill>
        <p:spPr>
          <a:xfrm>
            <a:off x="703601" y="1549621"/>
            <a:ext cx="7662450" cy="22234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g409d7fd6ca9_1_73"/>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02" name="Google Shape;202;g409d7fd6ca9_1_73"/>
          <p:cNvPicPr preferRelativeResize="0"/>
          <p:nvPr/>
        </p:nvPicPr>
        <p:blipFill rotWithShape="1">
          <a:blip r:embed="rId4">
            <a:alphaModFix/>
          </a:blip>
          <a:srcRect b="5650" l="0" r="0" t="5659"/>
          <a:stretch/>
        </p:blipFill>
        <p:spPr>
          <a:xfrm>
            <a:off x="7317600" y="185625"/>
            <a:ext cx="1399902" cy="541300"/>
          </a:xfrm>
          <a:prstGeom prst="rect">
            <a:avLst/>
          </a:prstGeom>
          <a:noFill/>
          <a:ln>
            <a:noFill/>
          </a:ln>
        </p:spPr>
      </p:pic>
      <p:sp>
        <p:nvSpPr>
          <p:cNvPr id="203" name="Google Shape;203;g409d7fd6ca9_1_73"/>
          <p:cNvSpPr txBox="1"/>
          <p:nvPr/>
        </p:nvSpPr>
        <p:spPr>
          <a:xfrm>
            <a:off x="340500" y="452038"/>
            <a:ext cx="8463000" cy="600300"/>
          </a:xfrm>
          <a:prstGeom prst="rect">
            <a:avLst/>
          </a:prstGeom>
          <a:noFill/>
          <a:ln>
            <a:noFill/>
          </a:ln>
          <a:effectLst>
            <a:outerShdw blurRad="57150" rotWithShape="0" algn="bl" dir="2820000" dist="19050">
              <a:srgbClr val="B7B7B7">
                <a:alpha val="85490"/>
              </a:srgbClr>
            </a:outerShdw>
          </a:effectLst>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 sz="2700" cap="none" strike="noStrike">
                <a:solidFill>
                  <a:schemeClr val="hlink"/>
                </a:solidFill>
                <a:uFill>
                  <a:noFill/>
                </a:uFill>
                <a:latin typeface="Rubik"/>
                <a:ea typeface="Rubik"/>
                <a:cs typeface="Rubik"/>
                <a:sym typeface="Rubik"/>
                <a:hlinkClick r:id="rId5"/>
              </a:rPr>
              <a:t>Dashboard</a:t>
            </a:r>
            <a:r>
              <a:rPr b="1" i="0" lang="en" sz="2700" u="none" cap="none" strike="noStrike">
                <a:solidFill>
                  <a:srgbClr val="000000"/>
                </a:solidFill>
                <a:latin typeface="Rubik"/>
                <a:ea typeface="Rubik"/>
                <a:cs typeface="Rubik"/>
                <a:sym typeface="Rubik"/>
              </a:rPr>
              <a:t> Performance Analytics</a:t>
            </a:r>
            <a:endParaRPr b="1" i="0" sz="2700" u="none" cap="none" strike="noStrike">
              <a:solidFill>
                <a:srgbClr val="000000"/>
              </a:solidFill>
              <a:latin typeface="Rubik"/>
              <a:ea typeface="Rubik"/>
              <a:cs typeface="Rubik"/>
              <a:sym typeface="Rubik"/>
            </a:endParaRPr>
          </a:p>
        </p:txBody>
      </p:sp>
      <p:sp>
        <p:nvSpPr>
          <p:cNvPr id="204" name="Google Shape;204;g409d7fd6ca9_1_73"/>
          <p:cNvSpPr txBox="1"/>
          <p:nvPr/>
        </p:nvSpPr>
        <p:spPr>
          <a:xfrm>
            <a:off x="426225" y="1104900"/>
            <a:ext cx="8291400" cy="3751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a:latin typeface="Poppins"/>
                <a:ea typeface="Poppins"/>
                <a:cs typeface="Poppins"/>
                <a:sym typeface="Poppins"/>
              </a:rPr>
              <a:t>Solusi &amp; Rekomendasi Bisnis</a:t>
            </a:r>
            <a:endParaRPr b="1">
              <a:latin typeface="Poppins"/>
              <a:ea typeface="Poppins"/>
              <a:cs typeface="Poppins"/>
              <a:sym typeface="Poppins"/>
            </a:endParaRPr>
          </a:p>
          <a:p>
            <a:pPr indent="0" lvl="0" marL="0" rtl="0" algn="just">
              <a:spcBef>
                <a:spcPts val="0"/>
              </a:spcBef>
              <a:spcAft>
                <a:spcPts val="0"/>
              </a:spcAft>
              <a:buNone/>
            </a:pPr>
            <a:r>
              <a:t/>
            </a:r>
            <a:endParaRPr b="1">
              <a:latin typeface="Poppins"/>
              <a:ea typeface="Poppins"/>
              <a:cs typeface="Poppins"/>
              <a:sym typeface="Poppins"/>
            </a:endParaRPr>
          </a:p>
          <a:p>
            <a:pPr indent="-304800" lvl="0" marL="457200" rtl="0" algn="just">
              <a:spcBef>
                <a:spcPts val="0"/>
              </a:spcBef>
              <a:spcAft>
                <a:spcPts val="0"/>
              </a:spcAft>
              <a:buSzPts val="1200"/>
              <a:buFont typeface="Poppins"/>
              <a:buChar char="●"/>
            </a:pPr>
            <a:r>
              <a:rPr lang="en" sz="1200">
                <a:latin typeface="Poppins"/>
                <a:ea typeface="Poppins"/>
                <a:cs typeface="Poppins"/>
                <a:sym typeface="Poppins"/>
              </a:rPr>
              <a:t>Melakukan audit operasional pada 5 cabang utama yang mengalami anomali rating. Fokus perbaikan diarahkan pada peningkatan kecepatan transaksi kasir, ketersediaan stok obat, serta keramahan staf pelayanan.  </a:t>
            </a:r>
            <a:endParaRPr sz="1200">
              <a:latin typeface="Poppins"/>
              <a:ea typeface="Poppins"/>
              <a:cs typeface="Poppins"/>
              <a:sym typeface="Poppins"/>
            </a:endParaRPr>
          </a:p>
          <a:p>
            <a:pPr indent="-304800" lvl="0" marL="457200" rtl="0" algn="just">
              <a:spcBef>
                <a:spcPts val="0"/>
              </a:spcBef>
              <a:spcAft>
                <a:spcPts val="0"/>
              </a:spcAft>
              <a:buSzPts val="1200"/>
              <a:buFont typeface="Poppins"/>
              <a:buChar char="●"/>
            </a:pPr>
            <a:r>
              <a:rPr lang="en" sz="1200">
                <a:solidFill>
                  <a:schemeClr val="dk1"/>
                </a:solidFill>
                <a:latin typeface="Poppins"/>
                <a:ea typeface="Poppins"/>
                <a:cs typeface="Poppins"/>
                <a:sym typeface="Poppins"/>
              </a:rPr>
              <a:t>Memperkuat rantai pasok (</a:t>
            </a:r>
            <a:r>
              <a:rPr i="1" lang="en" sz="1200">
                <a:solidFill>
                  <a:schemeClr val="dk1"/>
                </a:solidFill>
                <a:latin typeface="Poppins"/>
                <a:ea typeface="Poppins"/>
                <a:cs typeface="Poppins"/>
                <a:sym typeface="Poppins"/>
              </a:rPr>
              <a:t>supply chain</a:t>
            </a:r>
            <a:r>
              <a:rPr lang="en" sz="1200">
                <a:solidFill>
                  <a:schemeClr val="dk1"/>
                </a:solidFill>
                <a:latin typeface="Poppins"/>
                <a:ea typeface="Poppins"/>
                <a:cs typeface="Poppins"/>
                <a:sym typeface="Poppins"/>
              </a:rPr>
              <a:t>) dan fokus alokasi inventaris produk ber-margin tinggi di wilayah tier-1 seperti Jawa Barat, Sumatera Utara, dan Jawa Tengah untuk mempertahankan dominasi pasar. </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Menganalisis faktor penyebab penurunan penjualan di tahun 2023 pasca-puncak 2022 dengan meluncurkan program loyalitas pelanggan (</a:t>
            </a:r>
            <a:r>
              <a:rPr i="1" lang="en" sz="1200">
                <a:solidFill>
                  <a:schemeClr val="dk1"/>
                </a:solidFill>
                <a:latin typeface="Poppins"/>
                <a:ea typeface="Poppins"/>
                <a:cs typeface="Poppins"/>
                <a:sym typeface="Poppins"/>
              </a:rPr>
              <a:t>loyalty program</a:t>
            </a:r>
            <a:r>
              <a:rPr lang="en" sz="1200">
                <a:solidFill>
                  <a:schemeClr val="dk1"/>
                </a:solidFill>
                <a:latin typeface="Poppins"/>
                <a:ea typeface="Poppins"/>
                <a:cs typeface="Poppins"/>
                <a:sym typeface="Poppins"/>
              </a:rPr>
              <a:t>) serta bundling produk untuk mendorong </a:t>
            </a:r>
            <a:r>
              <a:rPr i="1" lang="en" sz="1200">
                <a:solidFill>
                  <a:schemeClr val="dk1"/>
                </a:solidFill>
                <a:latin typeface="Poppins"/>
                <a:ea typeface="Poppins"/>
                <a:cs typeface="Poppins"/>
                <a:sym typeface="Poppins"/>
              </a:rPr>
              <a:t>repeat order</a:t>
            </a:r>
            <a:r>
              <a:rPr lang="en" sz="1200">
                <a:solidFill>
                  <a:schemeClr val="dk1"/>
                </a:solidFill>
                <a:latin typeface="Poppins"/>
                <a:ea typeface="Poppins"/>
                <a:cs typeface="Poppins"/>
                <a:sym typeface="Poppins"/>
              </a:rPr>
              <a:t>. </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Memprioritaskan alokasi dan menetapkan batas </a:t>
            </a:r>
            <a:r>
              <a:rPr i="1" lang="en" sz="1200">
                <a:solidFill>
                  <a:schemeClr val="dk1"/>
                </a:solidFill>
                <a:latin typeface="Poppins"/>
                <a:ea typeface="Poppins"/>
                <a:cs typeface="Poppins"/>
                <a:sym typeface="Poppins"/>
              </a:rPr>
              <a:t>safety stock</a:t>
            </a:r>
            <a:r>
              <a:rPr lang="en" sz="1200">
                <a:solidFill>
                  <a:schemeClr val="dk1"/>
                </a:solidFill>
                <a:latin typeface="Poppins"/>
                <a:ea typeface="Poppins"/>
                <a:cs typeface="Poppins"/>
                <a:sym typeface="Poppins"/>
              </a:rPr>
              <a:t> ekstra untuk kategori obat </a:t>
            </a:r>
            <a:r>
              <a:rPr i="1" lang="en" sz="1200">
                <a:solidFill>
                  <a:schemeClr val="dk1"/>
                </a:solidFill>
                <a:latin typeface="Poppins"/>
                <a:ea typeface="Poppins"/>
                <a:cs typeface="Poppins"/>
                <a:sym typeface="Poppins"/>
              </a:rPr>
              <a:t>Psycholeptics drugs, Hypnotics and sedatives drugs</a:t>
            </a:r>
            <a:r>
              <a:rPr lang="en" sz="1200">
                <a:solidFill>
                  <a:schemeClr val="dk1"/>
                </a:solidFill>
                <a:latin typeface="Poppins"/>
                <a:ea typeface="Poppins"/>
                <a:cs typeface="Poppins"/>
                <a:sym typeface="Poppins"/>
              </a:rPr>
              <a:t> di semua cabang. Kekosongan stok (</a:t>
            </a:r>
            <a:r>
              <a:rPr i="1" lang="en" sz="1200">
                <a:solidFill>
                  <a:schemeClr val="dk1"/>
                </a:solidFill>
                <a:latin typeface="Poppins"/>
                <a:ea typeface="Poppins"/>
                <a:cs typeface="Poppins"/>
                <a:sym typeface="Poppins"/>
              </a:rPr>
              <a:t>out-of-stock</a:t>
            </a:r>
            <a:r>
              <a:rPr lang="en" sz="1200">
                <a:solidFill>
                  <a:schemeClr val="dk1"/>
                </a:solidFill>
                <a:latin typeface="Poppins"/>
                <a:ea typeface="Poppins"/>
                <a:cs typeface="Poppins"/>
                <a:sym typeface="Poppins"/>
              </a:rPr>
              <a:t>) pada kategori ini akan langsung menggerus total transaksi dan arus kas (</a:t>
            </a:r>
            <a:r>
              <a:rPr i="1" lang="en" sz="1200">
                <a:solidFill>
                  <a:schemeClr val="dk1"/>
                </a:solidFill>
                <a:latin typeface="Poppins"/>
                <a:ea typeface="Poppins"/>
                <a:cs typeface="Poppins"/>
                <a:sym typeface="Poppins"/>
              </a:rPr>
              <a:t>cash flow</a:t>
            </a:r>
            <a:r>
              <a:rPr lang="en" sz="1200">
                <a:solidFill>
                  <a:schemeClr val="dk1"/>
                </a:solidFill>
                <a:latin typeface="Poppins"/>
                <a:ea typeface="Poppins"/>
                <a:cs typeface="Poppins"/>
                <a:sym typeface="Poppins"/>
              </a:rPr>
              <a:t>) Kimia Farma secara signifikan. </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t/>
            </a:r>
            <a:endParaRPr sz="1200">
              <a:solidFill>
                <a:schemeClr val="dk1"/>
              </a:solidFill>
              <a:latin typeface="Poppins"/>
              <a:ea typeface="Poppins"/>
              <a:cs typeface="Poppins"/>
              <a:sym typeface="Poppins"/>
            </a:endParaRPr>
          </a:p>
          <a:p>
            <a:pPr indent="0" lvl="0" marL="0" rtl="0" algn="just">
              <a:spcBef>
                <a:spcPts val="0"/>
              </a:spcBef>
              <a:spcAft>
                <a:spcPts val="0"/>
              </a:spcAft>
              <a:buNone/>
            </a:pPr>
            <a:r>
              <a:rPr b="1" lang="en" sz="1200" u="sng">
                <a:solidFill>
                  <a:schemeClr val="dk1"/>
                </a:solidFill>
                <a:latin typeface="Poppins"/>
                <a:ea typeface="Poppins"/>
                <a:cs typeface="Poppins"/>
                <a:sym typeface="Poppins"/>
              </a:rPr>
              <a:t>Notes </a:t>
            </a:r>
            <a:r>
              <a:rPr lang="en" sz="1200">
                <a:solidFill>
                  <a:schemeClr val="dk1"/>
                </a:solidFill>
                <a:latin typeface="Poppins"/>
                <a:ea typeface="Poppins"/>
                <a:cs typeface="Poppins"/>
                <a:sym typeface="Poppins"/>
              </a:rPr>
              <a:t>: Key Findings, Solusi dan Rekomendasi Bisnis dapat berubah menyesuaikan kebutuhan (rentang waktu dan lokasi)</a:t>
            </a:r>
            <a:endParaRPr sz="12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208" name="Shape 208"/>
        <p:cNvGrpSpPr/>
        <p:nvPr/>
      </p:nvGrpSpPr>
      <p:grpSpPr>
        <a:xfrm>
          <a:off x="0" y="0"/>
          <a:ext cx="0" cy="0"/>
          <a:chOff x="0" y="0"/>
          <a:chExt cx="0" cy="0"/>
        </a:xfrm>
      </p:grpSpPr>
      <p:pic>
        <p:nvPicPr>
          <p:cNvPr id="209" name="Google Shape;209;g409d7fd6ca9_1_16"/>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10" name="Google Shape;210;g409d7fd6ca9_1_16"/>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211" name="Google Shape;211;g409d7fd6ca9_1_16"/>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212" name="Google Shape;212;g409d7fd6ca9_1_16"/>
          <p:cNvPicPr preferRelativeResize="0"/>
          <p:nvPr/>
        </p:nvPicPr>
        <p:blipFill rotWithShape="1">
          <a:blip r:embed="rId5">
            <a:alphaModFix/>
          </a:blip>
          <a:srcRect b="0" l="0" r="0" t="0"/>
          <a:stretch/>
        </p:blipFill>
        <p:spPr>
          <a:xfrm>
            <a:off x="4904100" y="4276052"/>
            <a:ext cx="1647099" cy="591550"/>
          </a:xfrm>
          <a:prstGeom prst="rect">
            <a:avLst/>
          </a:prstGeom>
          <a:noFill/>
          <a:ln>
            <a:noFill/>
          </a:ln>
        </p:spPr>
      </p:pic>
      <p:sp>
        <p:nvSpPr>
          <p:cNvPr id="213" name="Google Shape;213;g409d7fd6ca9_1_16">
            <a:hlinkClick r:id="rId6"/>
          </p:cNvPr>
          <p:cNvSpPr/>
          <p:nvPr/>
        </p:nvSpPr>
        <p:spPr>
          <a:xfrm>
            <a:off x="1556525" y="1292675"/>
            <a:ext cx="2692200" cy="93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9900"/>
                </a:solidFill>
                <a:latin typeface="Poppins SemiBold"/>
                <a:ea typeface="Poppins SemiBold"/>
                <a:cs typeface="Poppins SemiBold"/>
                <a:sym typeface="Poppins SemiBold"/>
              </a:rPr>
              <a:t>Video Explanation</a:t>
            </a:r>
            <a:endParaRPr sz="1900">
              <a:solidFill>
                <a:srgbClr val="FF9900"/>
              </a:solidFill>
              <a:latin typeface="Poppins SemiBold"/>
              <a:ea typeface="Poppins SemiBold"/>
              <a:cs typeface="Poppins SemiBold"/>
              <a:sym typeface="Poppins SemiBold"/>
            </a:endParaRPr>
          </a:p>
        </p:txBody>
      </p:sp>
      <p:sp>
        <p:nvSpPr>
          <p:cNvPr id="214" name="Google Shape;214;g409d7fd6ca9_1_16">
            <a:hlinkClick r:id="rId7"/>
          </p:cNvPr>
          <p:cNvSpPr/>
          <p:nvPr/>
        </p:nvSpPr>
        <p:spPr>
          <a:xfrm>
            <a:off x="4838575" y="1292675"/>
            <a:ext cx="2692200" cy="93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9900"/>
                </a:solidFill>
                <a:latin typeface="Poppins SemiBold"/>
                <a:ea typeface="Poppins SemiBold"/>
                <a:cs typeface="Poppins SemiBold"/>
                <a:sym typeface="Poppins SemiBold"/>
              </a:rPr>
              <a:t>GitHub</a:t>
            </a:r>
            <a:endParaRPr sz="1900">
              <a:solidFill>
                <a:srgbClr val="FF9900"/>
              </a:solidFill>
              <a:latin typeface="Poppins SemiBold"/>
              <a:ea typeface="Poppins SemiBold"/>
              <a:cs typeface="Poppins SemiBold"/>
              <a:sym typeface="Poppins SemiBold"/>
            </a:endParaRPr>
          </a:p>
        </p:txBody>
      </p:sp>
      <p:sp>
        <p:nvSpPr>
          <p:cNvPr id="215" name="Google Shape;215;g409d7fd6ca9_1_16">
            <a:hlinkClick r:id="rId8"/>
          </p:cNvPr>
          <p:cNvSpPr/>
          <p:nvPr/>
        </p:nvSpPr>
        <p:spPr>
          <a:xfrm>
            <a:off x="3085975" y="2562025"/>
            <a:ext cx="2692200" cy="93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900">
                <a:solidFill>
                  <a:srgbClr val="FF9900"/>
                </a:solidFill>
                <a:latin typeface="Poppins SemiBold"/>
                <a:ea typeface="Poppins SemiBold"/>
                <a:cs typeface="Poppins SemiBold"/>
                <a:sym typeface="Poppins SemiBold"/>
              </a:rPr>
              <a:t>Looker Dashboard</a:t>
            </a:r>
            <a:endParaRPr sz="1900">
              <a:solidFill>
                <a:srgbClr val="FF9900"/>
              </a:solidFill>
              <a:latin typeface="Poppins SemiBold"/>
              <a:ea typeface="Poppins SemiBold"/>
              <a:cs typeface="Poppins SemiBold"/>
              <a:sym typeface="Poppi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9FAB"/>
        </a:solidFill>
      </p:bgPr>
    </p:bg>
    <p:spTree>
      <p:nvGrpSpPr>
        <p:cNvPr id="219" name="Shape 219"/>
        <p:cNvGrpSpPr/>
        <p:nvPr/>
      </p:nvGrpSpPr>
      <p:grpSpPr>
        <a:xfrm>
          <a:off x="0" y="0"/>
          <a:ext cx="0" cy="0"/>
          <a:chOff x="0" y="0"/>
          <a:chExt cx="0" cy="0"/>
        </a:xfrm>
      </p:grpSpPr>
      <p:pic>
        <p:nvPicPr>
          <p:cNvPr id="220" name="Google Shape;220;g409d7fd6ca9_1_28"/>
          <p:cNvPicPr preferRelativeResize="0"/>
          <p:nvPr/>
        </p:nvPicPr>
        <p:blipFill rotWithShape="1">
          <a:blip r:embed="rId3">
            <a:alphaModFix amt="10000"/>
          </a:blip>
          <a:srcRect b="0" l="0" r="0" t="0"/>
          <a:stretch/>
        </p:blipFill>
        <p:spPr>
          <a:xfrm>
            <a:off x="0" y="0"/>
            <a:ext cx="9144001" cy="5143501"/>
          </a:xfrm>
          <a:prstGeom prst="rect">
            <a:avLst/>
          </a:prstGeom>
          <a:noFill/>
          <a:ln>
            <a:noFill/>
          </a:ln>
        </p:spPr>
      </p:pic>
      <p:pic>
        <p:nvPicPr>
          <p:cNvPr id="221" name="Google Shape;221;g409d7fd6ca9_1_28"/>
          <p:cNvPicPr preferRelativeResize="0"/>
          <p:nvPr/>
        </p:nvPicPr>
        <p:blipFill rotWithShape="1">
          <a:blip r:embed="rId4">
            <a:alphaModFix/>
          </a:blip>
          <a:srcRect b="0" l="0" r="0" t="0"/>
          <a:stretch/>
        </p:blipFill>
        <p:spPr>
          <a:xfrm>
            <a:off x="2895425" y="4262625"/>
            <a:ext cx="1399901" cy="541300"/>
          </a:xfrm>
          <a:prstGeom prst="rect">
            <a:avLst/>
          </a:prstGeom>
          <a:noFill/>
          <a:ln>
            <a:noFill/>
          </a:ln>
        </p:spPr>
      </p:pic>
      <p:sp>
        <p:nvSpPr>
          <p:cNvPr id="222" name="Google Shape;222;g409d7fd6ca9_1_28"/>
          <p:cNvSpPr txBox="1"/>
          <p:nvPr/>
        </p:nvSpPr>
        <p:spPr>
          <a:xfrm>
            <a:off x="2376000" y="1939850"/>
            <a:ext cx="4392000" cy="877200"/>
          </a:xfrm>
          <a:prstGeom prst="rect">
            <a:avLst/>
          </a:prstGeom>
          <a:noFill/>
          <a:ln>
            <a:noFill/>
          </a:ln>
          <a:effectLst>
            <a:outerShdw blurRad="57150" rotWithShape="0" algn="bl" dir="5400000" dist="19050">
              <a:srgbClr val="000000">
                <a:alpha val="49410"/>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500"/>
              <a:buFont typeface="Arial"/>
              <a:buNone/>
            </a:pPr>
            <a:r>
              <a:rPr b="1" i="0" lang="en" sz="4500" u="none" cap="none" strike="noStrike">
                <a:solidFill>
                  <a:schemeClr val="lt1"/>
                </a:solidFill>
                <a:latin typeface="Rubik"/>
                <a:ea typeface="Rubik"/>
                <a:cs typeface="Rubik"/>
                <a:sym typeface="Rubik"/>
              </a:rPr>
              <a:t>Thank You</a:t>
            </a:r>
            <a:endParaRPr b="0" i="0" sz="2000" u="none" cap="none" strike="noStrike">
              <a:solidFill>
                <a:schemeClr val="lt1"/>
              </a:solidFill>
              <a:latin typeface="Rubik"/>
              <a:ea typeface="Rubik"/>
              <a:cs typeface="Rubik"/>
              <a:sym typeface="Rubik"/>
            </a:endParaRPr>
          </a:p>
        </p:txBody>
      </p:sp>
      <p:sp>
        <p:nvSpPr>
          <p:cNvPr id="223" name="Google Shape;223;g409d7fd6ca9_1_28"/>
          <p:cNvSpPr txBox="1"/>
          <p:nvPr/>
        </p:nvSpPr>
        <p:spPr>
          <a:xfrm>
            <a:off x="4314750" y="4248575"/>
            <a:ext cx="4578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ubik SemiBold"/>
                <a:ea typeface="Rubik SemiBold"/>
                <a:cs typeface="Rubik SemiBold"/>
                <a:sym typeface="Rubik SemiBold"/>
              </a:rPr>
              <a:t>X</a:t>
            </a:r>
            <a:endParaRPr b="0" i="0" sz="3000" u="none" cap="none" strike="noStrike">
              <a:solidFill>
                <a:schemeClr val="lt1"/>
              </a:solidFill>
              <a:latin typeface="Rubik SemiBold"/>
              <a:ea typeface="Rubik SemiBold"/>
              <a:cs typeface="Rubik SemiBold"/>
              <a:sym typeface="Rubik SemiBold"/>
            </a:endParaRPr>
          </a:p>
        </p:txBody>
      </p:sp>
      <p:pic>
        <p:nvPicPr>
          <p:cNvPr id="224" name="Google Shape;224;g409d7fd6ca9_1_28"/>
          <p:cNvPicPr preferRelativeResize="0"/>
          <p:nvPr/>
        </p:nvPicPr>
        <p:blipFill rotWithShape="1">
          <a:blip r:embed="rId5">
            <a:alphaModFix/>
          </a:blip>
          <a:srcRect b="0" l="0" r="0" t="0"/>
          <a:stretch/>
        </p:blipFill>
        <p:spPr>
          <a:xfrm>
            <a:off x="4904100" y="4276052"/>
            <a:ext cx="1647099" cy="591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